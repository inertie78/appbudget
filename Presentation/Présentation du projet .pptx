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6"/>
  </p:notesMasterIdLst>
  <p:sldIdLst>
    <p:sldId id="256" r:id="rId2"/>
    <p:sldId id="258" r:id="rId3"/>
    <p:sldId id="257"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14" d="100"/>
          <a:sy n="114" d="100"/>
        </p:scale>
        <p:origin x="2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CB11A7-EF10-4209-B62B-4C91A6D89B19}" type="datetimeFigureOut">
              <a:rPr lang="fr-CH" smtClean="0"/>
              <a:t>17.06.2025</a:t>
            </a:fld>
            <a:endParaRPr lang="fr-CH"/>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D21BD5-1B28-46FB-88ED-F8B8A4C96E1F}" type="slidenum">
              <a:rPr lang="fr-CH" smtClean="0"/>
              <a:t>‹N°›</a:t>
            </a:fld>
            <a:endParaRPr lang="fr-CH"/>
          </a:p>
        </p:txBody>
      </p:sp>
    </p:spTree>
    <p:extLst>
      <p:ext uri="{BB962C8B-B14F-4D97-AF65-F5344CB8AC3E}">
        <p14:creationId xmlns:p14="http://schemas.microsoft.com/office/powerpoint/2010/main" val="388684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fr-CH" dirty="0"/>
              <a:t>Choix vaste de possibilités  -&gt; parti sur gestion de Budget</a:t>
            </a:r>
          </a:p>
          <a:p>
            <a:pPr marL="171450" indent="-171450">
              <a:buFontTx/>
              <a:buChar char="-"/>
            </a:pPr>
            <a:endParaRPr lang="fr-CH" dirty="0"/>
          </a:p>
          <a:p>
            <a:pPr marL="171450" indent="-171450">
              <a:buFontTx/>
              <a:buChar char="-"/>
            </a:pPr>
            <a:r>
              <a:rPr lang="fr-CH" dirty="0"/>
              <a:t>Projet Java Swing Interface Homme Machine</a:t>
            </a:r>
          </a:p>
          <a:p>
            <a:pPr marL="171450" indent="-171450">
              <a:buFontTx/>
              <a:buChar char="-"/>
            </a:pPr>
            <a:endParaRPr lang="fr-CH" dirty="0"/>
          </a:p>
          <a:p>
            <a:pPr marL="171450" indent="-171450">
              <a:buFontTx/>
              <a:buChar char="-"/>
            </a:pPr>
            <a:r>
              <a:rPr lang="fr-CH" dirty="0"/>
              <a:t>On a réfléchi au châssis dans un premier temps</a:t>
            </a:r>
          </a:p>
          <a:p>
            <a:pPr marL="171450" indent="-171450">
              <a:buFontTx/>
              <a:buChar char="-"/>
            </a:pPr>
            <a:endParaRPr lang="fr-CH" dirty="0"/>
          </a:p>
          <a:p>
            <a:pPr marL="171450" indent="-171450">
              <a:buFontTx/>
              <a:buChar char="-"/>
            </a:pPr>
            <a:r>
              <a:rPr lang="fr-CH" dirty="0"/>
              <a:t>Elaboration d’une esquisse </a:t>
            </a:r>
          </a:p>
          <a:p>
            <a:pPr marL="171450" indent="-171450">
              <a:buFontTx/>
              <a:buChar char="-"/>
            </a:pPr>
            <a:endParaRPr lang="fr-CH" dirty="0"/>
          </a:p>
          <a:p>
            <a:pPr marL="0" indent="0">
              <a:buFontTx/>
              <a:buNone/>
            </a:pPr>
            <a:endParaRPr lang="fr-CH" dirty="0"/>
          </a:p>
        </p:txBody>
      </p:sp>
      <p:sp>
        <p:nvSpPr>
          <p:cNvPr id="4" name="Espace réservé du numéro de diapositive 3"/>
          <p:cNvSpPr>
            <a:spLocks noGrp="1"/>
          </p:cNvSpPr>
          <p:nvPr>
            <p:ph type="sldNum" sz="quarter" idx="5"/>
          </p:nvPr>
        </p:nvSpPr>
        <p:spPr/>
        <p:txBody>
          <a:bodyPr/>
          <a:lstStyle/>
          <a:p>
            <a:fld id="{91D21BD5-1B28-46FB-88ED-F8B8A4C96E1F}" type="slidenum">
              <a:rPr lang="fr-CH" smtClean="0"/>
              <a:t>1</a:t>
            </a:fld>
            <a:endParaRPr lang="fr-CH"/>
          </a:p>
        </p:txBody>
      </p:sp>
    </p:spTree>
    <p:extLst>
      <p:ext uri="{BB962C8B-B14F-4D97-AF65-F5344CB8AC3E}">
        <p14:creationId xmlns:p14="http://schemas.microsoft.com/office/powerpoint/2010/main" val="3518351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28600" indent="-228600">
              <a:buAutoNum type="arabicPeriod"/>
            </a:pPr>
            <a:r>
              <a:rPr lang="fr-CH" dirty="0"/>
              <a:t>Menu Bar -&gt; titre – fichier – help</a:t>
            </a:r>
          </a:p>
          <a:p>
            <a:pPr marL="228600" indent="-228600">
              <a:buAutoNum type="arabicPeriod"/>
            </a:pPr>
            <a:endParaRPr lang="fr-CH" dirty="0"/>
          </a:p>
          <a:p>
            <a:pPr marL="228600" indent="-228600">
              <a:buAutoNum type="arabicPeriod"/>
            </a:pPr>
            <a:r>
              <a:rPr lang="fr-CH" dirty="0"/>
              <a:t>Panel Formulaire de saisie pour l’utilisateur</a:t>
            </a:r>
          </a:p>
          <a:p>
            <a:pPr marL="628650" lvl="1" indent="-171450">
              <a:buFontTx/>
              <a:buChar char="-"/>
            </a:pPr>
            <a:r>
              <a:rPr lang="fr-CH" dirty="0"/>
              <a:t>3 champs</a:t>
            </a:r>
          </a:p>
          <a:p>
            <a:pPr marL="628650" lvl="1" indent="-171450">
              <a:buFontTx/>
              <a:buChar char="-"/>
            </a:pPr>
            <a:r>
              <a:rPr lang="fr-CH" dirty="0"/>
              <a:t>Menu déroulant pour la date</a:t>
            </a:r>
          </a:p>
          <a:p>
            <a:pPr marL="628650" lvl="1" indent="-171450">
              <a:buFontTx/>
              <a:buChar char="-"/>
            </a:pPr>
            <a:r>
              <a:rPr lang="fr-CH" dirty="0"/>
              <a:t>Boutons Crédit et Débit</a:t>
            </a:r>
          </a:p>
          <a:p>
            <a:pPr marL="228600" indent="-228600">
              <a:buAutoNum type="arabicPeriod"/>
            </a:pPr>
            <a:endParaRPr lang="fr-CH" dirty="0"/>
          </a:p>
          <a:p>
            <a:pPr marL="228600" indent="-228600">
              <a:buAutoNum type="arabicPeriod"/>
            </a:pPr>
            <a:r>
              <a:rPr lang="fr-CH" dirty="0"/>
              <a:t>Table</a:t>
            </a:r>
          </a:p>
          <a:p>
            <a:pPr marL="228600" indent="-228600">
              <a:buAutoNum type="arabicPeriod"/>
            </a:pPr>
            <a:endParaRPr lang="fr-CH" dirty="0"/>
          </a:p>
          <a:p>
            <a:pPr marL="228600" indent="-228600">
              <a:buAutoNum type="arabicPeriod"/>
            </a:pPr>
            <a:r>
              <a:rPr lang="fr-CH" dirty="0"/>
              <a:t>Menu de filtres pour effectuer des recherches</a:t>
            </a:r>
          </a:p>
          <a:p>
            <a:pPr marL="228600" indent="-228600">
              <a:buAutoNum type="arabicPeriod"/>
            </a:pPr>
            <a:endParaRPr lang="fr-CH" dirty="0"/>
          </a:p>
          <a:p>
            <a:pPr marL="228600" indent="-228600">
              <a:buAutoNum type="arabicPeriod"/>
            </a:pPr>
            <a:r>
              <a:rPr lang="fr-CH" dirty="0" err="1"/>
              <a:t>Textfields</a:t>
            </a:r>
            <a:r>
              <a:rPr lang="fr-CH" dirty="0"/>
              <a:t> pour les totaux</a:t>
            </a:r>
          </a:p>
          <a:p>
            <a:pPr marL="228600" indent="-228600">
              <a:buAutoNum type="arabicPeriod"/>
            </a:pPr>
            <a:endParaRPr lang="fr-CH" dirty="0"/>
          </a:p>
          <a:p>
            <a:pPr marL="228600" indent="-228600">
              <a:buAutoNum type="arabicPeriod"/>
            </a:pPr>
            <a:r>
              <a:rPr lang="fr-CH" dirty="0"/>
              <a:t>Tous ces éléments assemblés constitue notre application</a:t>
            </a:r>
          </a:p>
          <a:p>
            <a:pPr marL="228600" indent="-228600">
              <a:buAutoNum type="arabicPeriod"/>
            </a:pPr>
            <a:endParaRPr lang="fr-CH" dirty="0"/>
          </a:p>
          <a:p>
            <a:pPr marL="228600" indent="-228600">
              <a:buAutoNum type="arabicPeriod"/>
            </a:pPr>
            <a:r>
              <a:rPr lang="fr-CH" dirty="0"/>
              <a:t>Christophe va prendre le relais pour la démo</a:t>
            </a:r>
          </a:p>
        </p:txBody>
      </p:sp>
      <p:sp>
        <p:nvSpPr>
          <p:cNvPr id="4" name="Espace réservé du numéro de diapositive 3"/>
          <p:cNvSpPr>
            <a:spLocks noGrp="1"/>
          </p:cNvSpPr>
          <p:nvPr>
            <p:ph type="sldNum" sz="quarter" idx="5"/>
          </p:nvPr>
        </p:nvSpPr>
        <p:spPr/>
        <p:txBody>
          <a:bodyPr/>
          <a:lstStyle/>
          <a:p>
            <a:fld id="{91D21BD5-1B28-46FB-88ED-F8B8A4C96E1F}" type="slidenum">
              <a:rPr lang="fr-CH" smtClean="0"/>
              <a:t>2</a:t>
            </a:fld>
            <a:endParaRPr lang="fr-CH"/>
          </a:p>
        </p:txBody>
      </p:sp>
    </p:spTree>
    <p:extLst>
      <p:ext uri="{BB962C8B-B14F-4D97-AF65-F5344CB8AC3E}">
        <p14:creationId xmlns:p14="http://schemas.microsoft.com/office/powerpoint/2010/main" val="3852251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Améliorations :</a:t>
            </a:r>
          </a:p>
          <a:p>
            <a:pPr marL="171450" indent="-171450">
              <a:buFontTx/>
              <a:buChar char="-"/>
            </a:pPr>
            <a:r>
              <a:rPr lang="fr-CH" dirty="0"/>
              <a:t>Popup Ouverture</a:t>
            </a:r>
          </a:p>
          <a:p>
            <a:pPr marL="171450" indent="-171450">
              <a:buFontTx/>
              <a:buChar char="-"/>
            </a:pPr>
            <a:endParaRPr lang="fr-CH" dirty="0"/>
          </a:p>
          <a:p>
            <a:pPr marL="171450" indent="-171450">
              <a:buFontTx/>
              <a:buChar char="-"/>
            </a:pPr>
            <a:r>
              <a:rPr lang="fr-CH" dirty="0"/>
              <a:t>Enregistrer Sous…</a:t>
            </a:r>
          </a:p>
          <a:p>
            <a:pPr marL="171450" indent="-171450">
              <a:buFontTx/>
              <a:buChar char="-"/>
            </a:pPr>
            <a:endParaRPr lang="fr-CH" dirty="0"/>
          </a:p>
          <a:p>
            <a:pPr marL="171450" indent="-171450">
              <a:buFontTx/>
              <a:buChar char="-"/>
            </a:pPr>
            <a:r>
              <a:rPr lang="fr-CH" dirty="0"/>
              <a:t>Manuel Utilisateur</a:t>
            </a:r>
          </a:p>
          <a:p>
            <a:pPr marL="171450" indent="-171450">
              <a:buFontTx/>
              <a:buChar char="-"/>
            </a:pPr>
            <a:endParaRPr lang="fr-CH" dirty="0"/>
          </a:p>
          <a:p>
            <a:pPr marL="171450" indent="-171450">
              <a:buFontTx/>
              <a:buChar char="-"/>
            </a:pPr>
            <a:r>
              <a:rPr lang="fr-CH" dirty="0"/>
              <a:t>Type de dépense</a:t>
            </a:r>
          </a:p>
          <a:p>
            <a:pPr marL="171450" indent="-171450">
              <a:buFontTx/>
              <a:buChar char="-"/>
            </a:pPr>
            <a:endParaRPr lang="fr-CH" dirty="0"/>
          </a:p>
          <a:p>
            <a:pPr marL="171450" indent="-171450">
              <a:buFontTx/>
              <a:buChar char="-"/>
            </a:pPr>
            <a:r>
              <a:rPr lang="fr-CH" dirty="0"/>
              <a:t>Message erreurs</a:t>
            </a:r>
          </a:p>
          <a:p>
            <a:pPr marL="171450" indent="-171450">
              <a:buFontTx/>
              <a:buChar char="-"/>
            </a:pPr>
            <a:endParaRPr lang="fr-CH" dirty="0"/>
          </a:p>
          <a:p>
            <a:pPr marL="171450" indent="-171450">
              <a:buFontTx/>
              <a:buChar char="-"/>
            </a:pPr>
            <a:r>
              <a:rPr lang="fr-CH" dirty="0"/>
              <a:t>Surbrillance</a:t>
            </a:r>
          </a:p>
          <a:p>
            <a:pPr marL="171450" indent="-171450">
              <a:buFontTx/>
              <a:buChar char="-"/>
            </a:pPr>
            <a:endParaRPr lang="fr-CH" dirty="0"/>
          </a:p>
          <a:p>
            <a:pPr marL="171450" indent="-171450">
              <a:buFontTx/>
              <a:buChar char="-"/>
            </a:pPr>
            <a:r>
              <a:rPr lang="fr-CH" dirty="0"/>
              <a:t>Quitter Popup</a:t>
            </a:r>
          </a:p>
          <a:p>
            <a:pPr marL="171450" indent="-171450">
              <a:buFontTx/>
              <a:buChar char="-"/>
            </a:pPr>
            <a:endParaRPr lang="fr-CH" dirty="0"/>
          </a:p>
          <a:p>
            <a:pPr marL="171450" indent="-171450">
              <a:buFontTx/>
              <a:buChar char="-"/>
            </a:pPr>
            <a:r>
              <a:rPr lang="fr-CH" dirty="0"/>
              <a:t>Zéro</a:t>
            </a:r>
          </a:p>
          <a:p>
            <a:pPr marL="171450" indent="-171450">
              <a:buFontTx/>
              <a:buChar char="-"/>
            </a:pPr>
            <a:endParaRPr lang="fr-CH" dirty="0"/>
          </a:p>
          <a:p>
            <a:pPr marL="171450" indent="-171450">
              <a:buFontTx/>
              <a:buChar char="-"/>
            </a:pPr>
            <a:r>
              <a:rPr lang="fr-CH" dirty="0"/>
              <a:t>Editer ligne</a:t>
            </a:r>
          </a:p>
          <a:p>
            <a:pPr marL="171450" indent="-171450">
              <a:buFontTx/>
              <a:buChar char="-"/>
            </a:pPr>
            <a:endParaRPr lang="fr-CH" dirty="0"/>
          </a:p>
          <a:p>
            <a:pPr marL="0" indent="0">
              <a:buFontTx/>
              <a:buNone/>
            </a:pPr>
            <a:r>
              <a:rPr lang="fr-CH" dirty="0"/>
              <a:t>Bugs</a:t>
            </a:r>
          </a:p>
          <a:p>
            <a:pPr marL="171450" indent="-171450">
              <a:buFontTx/>
              <a:buChar char="-"/>
            </a:pPr>
            <a:r>
              <a:rPr lang="fr-CH" dirty="0"/>
              <a:t>UTF</a:t>
            </a:r>
          </a:p>
          <a:p>
            <a:pPr marL="171450" indent="-171450">
              <a:buFontTx/>
              <a:buChar char="-"/>
            </a:pPr>
            <a:r>
              <a:rPr lang="fr-CH" dirty="0"/>
              <a:t>Supprimer double saisie</a:t>
            </a:r>
          </a:p>
          <a:p>
            <a:pPr marL="171450" indent="-171450">
              <a:buFontTx/>
              <a:buChar char="-"/>
            </a:pPr>
            <a:r>
              <a:rPr lang="fr-CH" dirty="0"/>
              <a:t>Pas de limite au nombre de lignes</a:t>
            </a:r>
          </a:p>
          <a:p>
            <a:pPr marL="171450" indent="-171450">
              <a:buFontTx/>
              <a:buChar char="-"/>
            </a:pPr>
            <a:r>
              <a:rPr lang="fr-CH" dirty="0"/>
              <a:t>Pas de limites champs saisies</a:t>
            </a:r>
          </a:p>
          <a:p>
            <a:pPr marL="171450" indent="-171450">
              <a:buFontTx/>
              <a:buChar char="-"/>
            </a:pPr>
            <a:endParaRPr lang="fr-CH" dirty="0"/>
          </a:p>
          <a:p>
            <a:pPr marL="0" indent="0">
              <a:buFontTx/>
              <a:buNone/>
            </a:pPr>
            <a:endParaRPr lang="fr-CH" dirty="0"/>
          </a:p>
          <a:p>
            <a:pPr marL="0" indent="0">
              <a:buFontTx/>
              <a:buNone/>
            </a:pPr>
            <a:r>
              <a:rPr lang="fr-CH" dirty="0"/>
              <a:t>Difficultés</a:t>
            </a:r>
          </a:p>
          <a:p>
            <a:pPr marL="171450" indent="-171450">
              <a:buFontTx/>
              <a:buChar char="-"/>
            </a:pPr>
            <a:r>
              <a:rPr lang="fr-CH" dirty="0"/>
              <a:t>Rendus tables</a:t>
            </a:r>
          </a:p>
          <a:p>
            <a:pPr marL="171450" indent="-171450">
              <a:buFontTx/>
              <a:buChar char="-"/>
            </a:pPr>
            <a:r>
              <a:rPr lang="fr-CH" dirty="0"/>
              <a:t>MVC</a:t>
            </a:r>
          </a:p>
          <a:p>
            <a:pPr marL="171450" indent="-171450">
              <a:buFontTx/>
              <a:buChar char="-"/>
            </a:pPr>
            <a:r>
              <a:rPr lang="fr-CH" dirty="0"/>
              <a:t>Filtres dynamique</a:t>
            </a:r>
          </a:p>
          <a:p>
            <a:pPr marL="171450" indent="-171450">
              <a:buFontTx/>
              <a:buChar char="-"/>
            </a:pPr>
            <a:r>
              <a:rPr lang="fr-CH" dirty="0"/>
              <a:t>Répartition des tâches</a:t>
            </a:r>
          </a:p>
          <a:p>
            <a:pPr marL="171450" indent="-171450">
              <a:buFontTx/>
              <a:buChar char="-"/>
            </a:pPr>
            <a:r>
              <a:rPr lang="fr-CH" dirty="0" err="1"/>
              <a:t>Github</a:t>
            </a:r>
            <a:endParaRPr lang="fr-CH" dirty="0"/>
          </a:p>
          <a:p>
            <a:pPr marL="171450" indent="-171450">
              <a:buFontTx/>
              <a:buChar char="-"/>
            </a:pPr>
            <a:r>
              <a:rPr lang="fr-CH" dirty="0"/>
              <a:t>Eclipse</a:t>
            </a:r>
          </a:p>
        </p:txBody>
      </p:sp>
      <p:sp>
        <p:nvSpPr>
          <p:cNvPr id="4" name="Espace réservé du numéro de diapositive 3"/>
          <p:cNvSpPr>
            <a:spLocks noGrp="1"/>
          </p:cNvSpPr>
          <p:nvPr>
            <p:ph type="sldNum" sz="quarter" idx="5"/>
          </p:nvPr>
        </p:nvSpPr>
        <p:spPr/>
        <p:txBody>
          <a:bodyPr/>
          <a:lstStyle/>
          <a:p>
            <a:fld id="{91D21BD5-1B28-46FB-88ED-F8B8A4C96E1F}" type="slidenum">
              <a:rPr lang="fr-CH" smtClean="0"/>
              <a:t>4</a:t>
            </a:fld>
            <a:endParaRPr lang="fr-CH"/>
          </a:p>
        </p:txBody>
      </p:sp>
    </p:spTree>
    <p:extLst>
      <p:ext uri="{BB962C8B-B14F-4D97-AF65-F5344CB8AC3E}">
        <p14:creationId xmlns:p14="http://schemas.microsoft.com/office/powerpoint/2010/main" val="4022846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fr-FR"/>
              <a:t>Modifiez le style du titre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4412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3970812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fr-FR"/>
              <a:t>Modifiez le style du titre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275595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F906D6E-0495-4922-AB28-CDD73E86B8AF}" type="datetimeFigureOut">
              <a:rPr lang="fr-CH" smtClean="0"/>
              <a:t>16.06.2025</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2092322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F906D6E-0495-4922-AB28-CDD73E86B8AF}" type="datetimeFigureOut">
              <a:rPr lang="fr-CH" smtClean="0"/>
              <a:t>16.06.2025</a:t>
            </a:fld>
            <a:endParaRPr lang="fr-CH"/>
          </a:p>
        </p:txBody>
      </p:sp>
      <p:sp>
        <p:nvSpPr>
          <p:cNvPr id="8" name="Footer Placeholder 7"/>
          <p:cNvSpPr>
            <a:spLocks noGrp="1"/>
          </p:cNvSpPr>
          <p:nvPr>
            <p:ph type="ftr" sz="quarter" idx="11"/>
          </p:nvPr>
        </p:nvSpPr>
        <p:spPr/>
        <p:txBody>
          <a:bodyPr/>
          <a:lstStyle/>
          <a:p>
            <a:endParaRPr lang="fr-CH"/>
          </a:p>
        </p:txBody>
      </p:sp>
      <p:sp>
        <p:nvSpPr>
          <p:cNvPr id="9" name="Slide Number Placeholder 8"/>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306582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F906D6E-0495-4922-AB28-CDD73E86B8AF}" type="datetimeFigureOut">
              <a:rPr lang="fr-CH" smtClean="0"/>
              <a:t>16.06.2025</a:t>
            </a:fld>
            <a:endParaRPr lang="fr-CH"/>
          </a:p>
        </p:txBody>
      </p:sp>
      <p:sp>
        <p:nvSpPr>
          <p:cNvPr id="4" name="Footer Placeholder 3"/>
          <p:cNvSpPr>
            <a:spLocks noGrp="1"/>
          </p:cNvSpPr>
          <p:nvPr>
            <p:ph type="ftr" sz="quarter" idx="11"/>
          </p:nvPr>
        </p:nvSpPr>
        <p:spPr/>
        <p:txBody>
          <a:bodyPr/>
          <a:lstStyle/>
          <a:p>
            <a:endParaRPr lang="fr-CH"/>
          </a:p>
        </p:txBody>
      </p:sp>
      <p:sp>
        <p:nvSpPr>
          <p:cNvPr id="5" name="Slide Number Placeholder 4"/>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260458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906D6E-0495-4922-AB28-CDD73E86B8AF}" type="datetimeFigureOut">
              <a:rPr lang="fr-CH" smtClean="0"/>
              <a:t>16.06.2025</a:t>
            </a:fld>
            <a:endParaRPr lang="fr-CH"/>
          </a:p>
        </p:txBody>
      </p:sp>
      <p:sp>
        <p:nvSpPr>
          <p:cNvPr id="3" name="Footer Placeholder 2"/>
          <p:cNvSpPr>
            <a:spLocks noGrp="1"/>
          </p:cNvSpPr>
          <p:nvPr>
            <p:ph type="ftr" sz="quarter" idx="11"/>
          </p:nvPr>
        </p:nvSpPr>
        <p:spPr/>
        <p:txBody>
          <a:bodyPr/>
          <a:lstStyle/>
          <a:p>
            <a:endParaRPr lang="fr-CH"/>
          </a:p>
        </p:txBody>
      </p:sp>
      <p:sp>
        <p:nvSpPr>
          <p:cNvPr id="4" name="Slide Number Placeholder 3"/>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204451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F906D6E-0495-4922-AB28-CDD73E86B8AF}" type="datetimeFigureOut">
              <a:rPr lang="fr-CH" smtClean="0"/>
              <a:t>16.06.2025</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4197425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F906D6E-0495-4922-AB28-CDD73E86B8AF}" type="datetimeFigureOut">
              <a:rPr lang="fr-CH" smtClean="0"/>
              <a:t>16.06.2025</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118242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BF906D6E-0495-4922-AB28-CDD73E86B8AF}" type="datetimeFigureOut">
              <a:rPr lang="fr-CH" smtClean="0"/>
              <a:t>16.06.2025</a:t>
            </a:fld>
            <a:endParaRPr lang="fr-CH"/>
          </a:p>
        </p:txBody>
      </p:sp>
      <p:sp>
        <p:nvSpPr>
          <p:cNvPr id="4" name="Footer Placeholder 3"/>
          <p:cNvSpPr>
            <a:spLocks noGrp="1"/>
          </p:cNvSpPr>
          <p:nvPr>
            <p:ph type="ftr" sz="quarter" idx="11"/>
          </p:nvPr>
        </p:nvSpPr>
        <p:spPr/>
        <p:txBody>
          <a:bodyPr/>
          <a:lstStyle/>
          <a:p>
            <a:endParaRPr lang="fr-CH"/>
          </a:p>
        </p:txBody>
      </p:sp>
      <p:sp>
        <p:nvSpPr>
          <p:cNvPr id="5" name="Slide Number Placeholder 4"/>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3902224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fr-FR"/>
              <a:t>Modifiez le style du titre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1319217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0914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fr-FR"/>
              <a:t>Modifiez le style du titre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2659969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075182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4244996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315922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F906D6E-0495-4922-AB28-CDD73E86B8AF}" type="datetimeFigureOut">
              <a:rPr lang="fr-CH" smtClean="0"/>
              <a:t>16.06.2025</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12A1938A-5B7B-4EDA-82E0-C543665F7972}" type="slidenum">
              <a:rPr lang="fr-CH" smtClean="0"/>
              <a:t>‹N°›</a:t>
            </a:fld>
            <a:endParaRPr lang="fr-CH"/>
          </a:p>
        </p:txBody>
      </p:sp>
    </p:spTree>
    <p:extLst>
      <p:ext uri="{BB962C8B-B14F-4D97-AF65-F5344CB8AC3E}">
        <p14:creationId xmlns:p14="http://schemas.microsoft.com/office/powerpoint/2010/main" val="302524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F906D6E-0495-4922-AB28-CDD73E86B8AF}" type="datetimeFigureOut">
              <a:rPr lang="fr-CH" smtClean="0"/>
              <a:t>16.06.2025</a:t>
            </a:fld>
            <a:endParaRPr lang="fr-CH"/>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fr-CH"/>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12A1938A-5B7B-4EDA-82E0-C543665F7972}" type="slidenum">
              <a:rPr lang="fr-CH" smtClean="0"/>
              <a:t>‹N°›</a:t>
            </a:fld>
            <a:endParaRPr lang="fr-CH"/>
          </a:p>
        </p:txBody>
      </p:sp>
    </p:spTree>
    <p:extLst>
      <p:ext uri="{BB962C8B-B14F-4D97-AF65-F5344CB8AC3E}">
        <p14:creationId xmlns:p14="http://schemas.microsoft.com/office/powerpoint/2010/main" val="31020904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3B316D-B666-D7F6-8288-13DE0E307DBF}"/>
              </a:ext>
            </a:extLst>
          </p:cNvPr>
          <p:cNvSpPr>
            <a:spLocks noGrp="1"/>
          </p:cNvSpPr>
          <p:nvPr>
            <p:ph type="ctrTitle"/>
          </p:nvPr>
        </p:nvSpPr>
        <p:spPr/>
        <p:txBody>
          <a:bodyPr/>
          <a:lstStyle/>
          <a:p>
            <a:endParaRPr lang="fr-CH" dirty="0"/>
          </a:p>
        </p:txBody>
      </p:sp>
      <p:sp>
        <p:nvSpPr>
          <p:cNvPr id="3" name="Sous-titre 2">
            <a:extLst>
              <a:ext uri="{FF2B5EF4-FFF2-40B4-BE49-F238E27FC236}">
                <a16:creationId xmlns:a16="http://schemas.microsoft.com/office/drawing/2014/main" id="{1DE7C112-BAC6-1137-4041-F96DFBC287C5}"/>
              </a:ext>
            </a:extLst>
          </p:cNvPr>
          <p:cNvSpPr>
            <a:spLocks noGrp="1"/>
          </p:cNvSpPr>
          <p:nvPr>
            <p:ph type="subTitle" idx="1"/>
          </p:nvPr>
        </p:nvSpPr>
        <p:spPr/>
        <p:txBody>
          <a:bodyPr/>
          <a:lstStyle/>
          <a:p>
            <a:endParaRPr lang="fr-CH"/>
          </a:p>
        </p:txBody>
      </p:sp>
      <p:pic>
        <p:nvPicPr>
          <p:cNvPr id="6" name="Image 5">
            <a:extLst>
              <a:ext uri="{FF2B5EF4-FFF2-40B4-BE49-F238E27FC236}">
                <a16:creationId xmlns:a16="http://schemas.microsoft.com/office/drawing/2014/main" id="{54CB8F09-EF95-2BB9-F3A7-D74F184E6499}"/>
              </a:ext>
            </a:extLst>
          </p:cNvPr>
          <p:cNvPicPr>
            <a:picLocks noChangeAspect="1"/>
          </p:cNvPicPr>
          <p:nvPr/>
        </p:nvPicPr>
        <p:blipFill>
          <a:blip r:embed="rId3"/>
          <a:stretch>
            <a:fillRect/>
          </a:stretch>
        </p:blipFill>
        <p:spPr>
          <a:xfrm>
            <a:off x="-75486" y="0"/>
            <a:ext cx="12267486" cy="6858000"/>
          </a:xfrm>
          <a:prstGeom prst="rect">
            <a:avLst/>
          </a:prstGeom>
        </p:spPr>
      </p:pic>
      <p:sp>
        <p:nvSpPr>
          <p:cNvPr id="7" name="ZoneTexte 6">
            <a:extLst>
              <a:ext uri="{FF2B5EF4-FFF2-40B4-BE49-F238E27FC236}">
                <a16:creationId xmlns:a16="http://schemas.microsoft.com/office/drawing/2014/main" id="{11DAB7B2-7431-44D3-37B2-314E11D8FF7B}"/>
              </a:ext>
            </a:extLst>
          </p:cNvPr>
          <p:cNvSpPr txBox="1"/>
          <p:nvPr/>
        </p:nvSpPr>
        <p:spPr>
          <a:xfrm>
            <a:off x="4035105" y="562464"/>
            <a:ext cx="4046301" cy="369332"/>
          </a:xfrm>
          <a:prstGeom prst="rect">
            <a:avLst/>
          </a:prstGeom>
          <a:noFill/>
        </p:spPr>
        <p:txBody>
          <a:bodyPr wrap="none" rtlCol="0">
            <a:spAutoFit/>
          </a:bodyPr>
          <a:lstStyle/>
          <a:p>
            <a:r>
              <a:rPr lang="fr-CH" dirty="0"/>
              <a:t>Présentation du projet Java réalisé</a:t>
            </a:r>
          </a:p>
        </p:txBody>
      </p:sp>
      <p:sp>
        <p:nvSpPr>
          <p:cNvPr id="8" name="ZoneTexte 7">
            <a:extLst>
              <a:ext uri="{FF2B5EF4-FFF2-40B4-BE49-F238E27FC236}">
                <a16:creationId xmlns:a16="http://schemas.microsoft.com/office/drawing/2014/main" id="{7A3D9386-019A-0F1F-3BA4-E02D5BE7BAB7}"/>
              </a:ext>
            </a:extLst>
          </p:cNvPr>
          <p:cNvSpPr txBox="1"/>
          <p:nvPr/>
        </p:nvSpPr>
        <p:spPr>
          <a:xfrm>
            <a:off x="3812961" y="933397"/>
            <a:ext cx="5099473" cy="369332"/>
          </a:xfrm>
          <a:prstGeom prst="rect">
            <a:avLst/>
          </a:prstGeom>
          <a:noFill/>
        </p:spPr>
        <p:txBody>
          <a:bodyPr wrap="none" rtlCol="0">
            <a:spAutoFit/>
          </a:bodyPr>
          <a:lstStyle/>
          <a:p>
            <a:r>
              <a:rPr lang="fr-CH" dirty="0"/>
              <a:t>par Christophe Debons et Guillaume Leibzig</a:t>
            </a:r>
          </a:p>
        </p:txBody>
      </p:sp>
      <p:sp>
        <p:nvSpPr>
          <p:cNvPr id="9" name="ZoneTexte 8">
            <a:extLst>
              <a:ext uri="{FF2B5EF4-FFF2-40B4-BE49-F238E27FC236}">
                <a16:creationId xmlns:a16="http://schemas.microsoft.com/office/drawing/2014/main" id="{58A28F16-D012-0C2E-6A68-C13B570CD252}"/>
              </a:ext>
            </a:extLst>
          </p:cNvPr>
          <p:cNvSpPr txBox="1"/>
          <p:nvPr/>
        </p:nvSpPr>
        <p:spPr>
          <a:xfrm>
            <a:off x="4778769" y="1426064"/>
            <a:ext cx="3167855" cy="369332"/>
          </a:xfrm>
          <a:prstGeom prst="rect">
            <a:avLst/>
          </a:prstGeom>
          <a:noFill/>
        </p:spPr>
        <p:txBody>
          <a:bodyPr wrap="none" rtlCol="0">
            <a:spAutoFit/>
          </a:bodyPr>
          <a:lstStyle/>
          <a:p>
            <a:r>
              <a:rPr lang="fr-CH" dirty="0"/>
              <a:t>dans le cadre du CAS IDD</a:t>
            </a:r>
          </a:p>
        </p:txBody>
      </p:sp>
      <p:sp>
        <p:nvSpPr>
          <p:cNvPr id="10" name="ZoneTexte 9">
            <a:extLst>
              <a:ext uri="{FF2B5EF4-FFF2-40B4-BE49-F238E27FC236}">
                <a16:creationId xmlns:a16="http://schemas.microsoft.com/office/drawing/2014/main" id="{71A62442-4048-E7A3-E6B5-C227D7BBD13C}"/>
              </a:ext>
            </a:extLst>
          </p:cNvPr>
          <p:cNvSpPr txBox="1"/>
          <p:nvPr/>
        </p:nvSpPr>
        <p:spPr>
          <a:xfrm>
            <a:off x="4541653" y="5802869"/>
            <a:ext cx="3033203" cy="369332"/>
          </a:xfrm>
          <a:prstGeom prst="rect">
            <a:avLst/>
          </a:prstGeom>
          <a:noFill/>
        </p:spPr>
        <p:txBody>
          <a:bodyPr wrap="none" rtlCol="0">
            <a:spAutoFit/>
          </a:bodyPr>
          <a:lstStyle/>
          <a:p>
            <a:r>
              <a:rPr lang="fr-CH" dirty="0"/>
              <a:t>Neuchâtel, le 16 juin 2025</a:t>
            </a:r>
          </a:p>
        </p:txBody>
      </p:sp>
      <p:sp>
        <p:nvSpPr>
          <p:cNvPr id="11" name="ZoneTexte 10">
            <a:extLst>
              <a:ext uri="{FF2B5EF4-FFF2-40B4-BE49-F238E27FC236}">
                <a16:creationId xmlns:a16="http://schemas.microsoft.com/office/drawing/2014/main" id="{FEA5B0E9-16C1-4898-927E-EA383DE89CC2}"/>
              </a:ext>
            </a:extLst>
          </p:cNvPr>
          <p:cNvSpPr txBox="1"/>
          <p:nvPr/>
        </p:nvSpPr>
        <p:spPr>
          <a:xfrm>
            <a:off x="2602821" y="3259092"/>
            <a:ext cx="6910866" cy="584775"/>
          </a:xfrm>
          <a:prstGeom prst="rect">
            <a:avLst/>
          </a:prstGeom>
          <a:noFill/>
        </p:spPr>
        <p:txBody>
          <a:bodyPr wrap="none" rtlCol="0">
            <a:spAutoFit/>
          </a:bodyPr>
          <a:lstStyle/>
          <a:p>
            <a:r>
              <a:rPr lang="fr-CH" sz="3200" b="1" dirty="0"/>
              <a:t>Application de gestion de budget</a:t>
            </a:r>
          </a:p>
        </p:txBody>
      </p:sp>
    </p:spTree>
    <p:extLst>
      <p:ext uri="{BB962C8B-B14F-4D97-AF65-F5344CB8AC3E}">
        <p14:creationId xmlns:p14="http://schemas.microsoft.com/office/powerpoint/2010/main" val="3902815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a:extLst>
            <a:ext uri="{FF2B5EF4-FFF2-40B4-BE49-F238E27FC236}">
              <a16:creationId xmlns:a16="http://schemas.microsoft.com/office/drawing/2014/main" id="{7B330E1D-6D20-548A-600F-97105FC7D4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9AE6A0-7396-55C3-A48D-EDE2C23B3157}"/>
              </a:ext>
            </a:extLst>
          </p:cNvPr>
          <p:cNvSpPr>
            <a:spLocks noGrp="1"/>
          </p:cNvSpPr>
          <p:nvPr>
            <p:ph type="ctrTitle"/>
          </p:nvPr>
        </p:nvSpPr>
        <p:spPr/>
        <p:txBody>
          <a:bodyPr/>
          <a:lstStyle/>
          <a:p>
            <a:endParaRPr lang="fr-CH" dirty="0"/>
          </a:p>
        </p:txBody>
      </p:sp>
      <p:sp>
        <p:nvSpPr>
          <p:cNvPr id="3" name="Sous-titre 2">
            <a:extLst>
              <a:ext uri="{FF2B5EF4-FFF2-40B4-BE49-F238E27FC236}">
                <a16:creationId xmlns:a16="http://schemas.microsoft.com/office/drawing/2014/main" id="{6F1B19C1-6060-ABC1-45CD-FC1EFC226CA5}"/>
              </a:ext>
            </a:extLst>
          </p:cNvPr>
          <p:cNvSpPr>
            <a:spLocks noGrp="1"/>
          </p:cNvSpPr>
          <p:nvPr>
            <p:ph type="subTitle" idx="1"/>
          </p:nvPr>
        </p:nvSpPr>
        <p:spPr/>
        <p:txBody>
          <a:bodyPr/>
          <a:lstStyle/>
          <a:p>
            <a:endParaRPr lang="fr-CH"/>
          </a:p>
        </p:txBody>
      </p:sp>
      <p:pic>
        <p:nvPicPr>
          <p:cNvPr id="6" name="Image 5">
            <a:extLst>
              <a:ext uri="{FF2B5EF4-FFF2-40B4-BE49-F238E27FC236}">
                <a16:creationId xmlns:a16="http://schemas.microsoft.com/office/drawing/2014/main" id="{D073DEF7-2C8C-7529-9836-F6619B4B5243}"/>
              </a:ext>
            </a:extLst>
          </p:cNvPr>
          <p:cNvPicPr>
            <a:picLocks noChangeAspect="1"/>
          </p:cNvPicPr>
          <p:nvPr/>
        </p:nvPicPr>
        <p:blipFill>
          <a:blip r:embed="rId3"/>
          <a:stretch>
            <a:fillRect/>
          </a:stretch>
        </p:blipFill>
        <p:spPr>
          <a:xfrm>
            <a:off x="-75486" y="0"/>
            <a:ext cx="12267486" cy="6858000"/>
          </a:xfrm>
          <a:prstGeom prst="rect">
            <a:avLst/>
          </a:prstGeom>
        </p:spPr>
      </p:pic>
      <p:sp>
        <p:nvSpPr>
          <p:cNvPr id="5" name="Rectangle 4">
            <a:extLst>
              <a:ext uri="{FF2B5EF4-FFF2-40B4-BE49-F238E27FC236}">
                <a16:creationId xmlns:a16="http://schemas.microsoft.com/office/drawing/2014/main" id="{95C086AA-471A-607A-416F-FBA5B820952C}"/>
              </a:ext>
            </a:extLst>
          </p:cNvPr>
          <p:cNvSpPr/>
          <p:nvPr/>
        </p:nvSpPr>
        <p:spPr>
          <a:xfrm>
            <a:off x="1317462" y="-1"/>
            <a:ext cx="9302400" cy="6840000"/>
          </a:xfrm>
          <a:prstGeom prst="rect">
            <a:avLst/>
          </a:pr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pic>
        <p:nvPicPr>
          <p:cNvPr id="14" name="Image 13">
            <a:extLst>
              <a:ext uri="{FF2B5EF4-FFF2-40B4-BE49-F238E27FC236}">
                <a16:creationId xmlns:a16="http://schemas.microsoft.com/office/drawing/2014/main" id="{18FA9CE0-3E5B-1818-B3C7-826DA10325F8}"/>
              </a:ext>
            </a:extLst>
          </p:cNvPr>
          <p:cNvPicPr>
            <a:picLocks noChangeAspect="1"/>
          </p:cNvPicPr>
          <p:nvPr/>
        </p:nvPicPr>
        <p:blipFill>
          <a:blip r:embed="rId4"/>
          <a:stretch>
            <a:fillRect/>
          </a:stretch>
        </p:blipFill>
        <p:spPr>
          <a:xfrm>
            <a:off x="-5044551" y="-1981499"/>
            <a:ext cx="3905795" cy="2133898"/>
          </a:xfrm>
          <a:prstGeom prst="rect">
            <a:avLst/>
          </a:prstGeom>
        </p:spPr>
      </p:pic>
      <p:pic>
        <p:nvPicPr>
          <p:cNvPr id="16" name="Image 15">
            <a:extLst>
              <a:ext uri="{FF2B5EF4-FFF2-40B4-BE49-F238E27FC236}">
                <a16:creationId xmlns:a16="http://schemas.microsoft.com/office/drawing/2014/main" id="{1F5DCFEB-BAAC-A5AD-DDB3-4FA3ED8AD87A}"/>
              </a:ext>
            </a:extLst>
          </p:cNvPr>
          <p:cNvPicPr>
            <a:picLocks noChangeAspect="1"/>
          </p:cNvPicPr>
          <p:nvPr/>
        </p:nvPicPr>
        <p:blipFill>
          <a:blip r:embed="rId5"/>
          <a:stretch>
            <a:fillRect/>
          </a:stretch>
        </p:blipFill>
        <p:spPr>
          <a:xfrm>
            <a:off x="13076080" y="352442"/>
            <a:ext cx="4515480" cy="4296375"/>
          </a:xfrm>
          <a:prstGeom prst="rect">
            <a:avLst/>
          </a:prstGeom>
        </p:spPr>
      </p:pic>
      <p:pic>
        <p:nvPicPr>
          <p:cNvPr id="18" name="Image 17">
            <a:extLst>
              <a:ext uri="{FF2B5EF4-FFF2-40B4-BE49-F238E27FC236}">
                <a16:creationId xmlns:a16="http://schemas.microsoft.com/office/drawing/2014/main" id="{6D1783F2-5B32-2F31-4921-EFB029241B5A}"/>
              </a:ext>
            </a:extLst>
          </p:cNvPr>
          <p:cNvPicPr>
            <a:picLocks noChangeAspect="1"/>
          </p:cNvPicPr>
          <p:nvPr/>
        </p:nvPicPr>
        <p:blipFill>
          <a:blip r:embed="rId6"/>
          <a:stretch>
            <a:fillRect/>
          </a:stretch>
        </p:blipFill>
        <p:spPr>
          <a:xfrm>
            <a:off x="11204427" y="-2233947"/>
            <a:ext cx="2896004" cy="504895"/>
          </a:xfrm>
          <a:prstGeom prst="rect">
            <a:avLst/>
          </a:prstGeom>
        </p:spPr>
      </p:pic>
      <p:pic>
        <p:nvPicPr>
          <p:cNvPr id="22" name="Image 21">
            <a:extLst>
              <a:ext uri="{FF2B5EF4-FFF2-40B4-BE49-F238E27FC236}">
                <a16:creationId xmlns:a16="http://schemas.microsoft.com/office/drawing/2014/main" id="{97C5E410-6656-78EC-D44B-3FCB00C02A6C}"/>
              </a:ext>
            </a:extLst>
          </p:cNvPr>
          <p:cNvPicPr>
            <a:picLocks noChangeAspect="1"/>
          </p:cNvPicPr>
          <p:nvPr/>
        </p:nvPicPr>
        <p:blipFill>
          <a:blip r:embed="rId7"/>
          <a:stretch>
            <a:fillRect/>
          </a:stretch>
        </p:blipFill>
        <p:spPr>
          <a:xfrm>
            <a:off x="1423475" y="-695379"/>
            <a:ext cx="9196387" cy="247685"/>
          </a:xfrm>
          <a:prstGeom prst="rect">
            <a:avLst/>
          </a:prstGeom>
        </p:spPr>
      </p:pic>
      <p:pic>
        <p:nvPicPr>
          <p:cNvPr id="24" name="Image 23">
            <a:extLst>
              <a:ext uri="{FF2B5EF4-FFF2-40B4-BE49-F238E27FC236}">
                <a16:creationId xmlns:a16="http://schemas.microsoft.com/office/drawing/2014/main" id="{87584E95-6F8C-707A-CC55-E567D534EF1D}"/>
              </a:ext>
            </a:extLst>
          </p:cNvPr>
          <p:cNvPicPr>
            <a:picLocks noChangeAspect="1"/>
          </p:cNvPicPr>
          <p:nvPr/>
        </p:nvPicPr>
        <p:blipFill>
          <a:blip r:embed="rId8"/>
          <a:stretch>
            <a:fillRect/>
          </a:stretch>
        </p:blipFill>
        <p:spPr>
          <a:xfrm>
            <a:off x="9604227" y="8339438"/>
            <a:ext cx="2067213" cy="676369"/>
          </a:xfrm>
          <a:prstGeom prst="rect">
            <a:avLst/>
          </a:prstGeom>
        </p:spPr>
      </p:pic>
      <p:pic>
        <p:nvPicPr>
          <p:cNvPr id="26" name="Image 25">
            <a:extLst>
              <a:ext uri="{FF2B5EF4-FFF2-40B4-BE49-F238E27FC236}">
                <a16:creationId xmlns:a16="http://schemas.microsoft.com/office/drawing/2014/main" id="{8079DE41-7F80-90C2-7BE9-A4376F12E002}"/>
              </a:ext>
            </a:extLst>
          </p:cNvPr>
          <p:cNvPicPr>
            <a:picLocks noChangeAspect="1"/>
          </p:cNvPicPr>
          <p:nvPr/>
        </p:nvPicPr>
        <p:blipFill>
          <a:blip r:embed="rId9"/>
          <a:stretch>
            <a:fillRect/>
          </a:stretch>
        </p:blipFill>
        <p:spPr>
          <a:xfrm>
            <a:off x="5618979" y="1447056"/>
            <a:ext cx="4906060" cy="5334744"/>
          </a:xfrm>
          <a:prstGeom prst="rect">
            <a:avLst/>
          </a:prstGeom>
        </p:spPr>
      </p:pic>
    </p:spTree>
    <p:extLst>
      <p:ext uri="{BB962C8B-B14F-4D97-AF65-F5344CB8AC3E}">
        <p14:creationId xmlns:p14="http://schemas.microsoft.com/office/powerpoint/2010/main" val="100566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7 3.33333E-6 L -0.00013 0.10555 " pathEditMode="relative" rAng="0" ptsTypes="AA">
                                      <p:cBhvr>
                                        <p:cTn id="6" dur="2000" fill="hold"/>
                                        <p:tgtEl>
                                          <p:spTgt spid="22"/>
                                        </p:tgtEl>
                                        <p:attrNameLst>
                                          <p:attrName>ppt_x</p:attrName>
                                          <p:attrName>ppt_y</p:attrName>
                                        </p:attrNameLst>
                                      </p:cBhvr>
                                      <p:rCtr x="-13" y="5278"/>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02956 0.28889 L 0.57175 0.72847 " pathEditMode="relative" rAng="0" ptsTypes="AA">
                                      <p:cBhvr>
                                        <p:cTn id="10" dur="2000" fill="hold"/>
                                        <p:tgtEl>
                                          <p:spTgt spid="14"/>
                                        </p:tgtEl>
                                        <p:attrNameLst>
                                          <p:attrName>ppt_x</p:attrName>
                                          <p:attrName>ppt_y</p:attrName>
                                        </p:attrNameLst>
                                      </p:cBhvr>
                                      <p:rCtr x="27109" y="21968"/>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2.29167E-6 -3.33333E-6 L -0.5983 0.16875 " pathEditMode="relative" rAng="0" ptsTypes="AA">
                                      <p:cBhvr>
                                        <p:cTn id="14" dur="2000" fill="hold"/>
                                        <p:tgtEl>
                                          <p:spTgt spid="16"/>
                                        </p:tgtEl>
                                        <p:attrNameLst>
                                          <p:attrName>ppt_x</p:attrName>
                                          <p:attrName>ppt_y</p:attrName>
                                        </p:attrNameLst>
                                      </p:cBhvr>
                                      <p:rCtr x="-29922" y="8426"/>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4.16667E-7 -1.11111E-6 L -0.38151 0.47222 " pathEditMode="relative" rAng="0" ptsTypes="AA">
                                      <p:cBhvr>
                                        <p:cTn id="18" dur="2000" fill="hold"/>
                                        <p:tgtEl>
                                          <p:spTgt spid="18"/>
                                        </p:tgtEl>
                                        <p:attrNameLst>
                                          <p:attrName>ppt_x</p:attrName>
                                          <p:attrName>ppt_y</p:attrName>
                                        </p:attrNameLst>
                                      </p:cBhvr>
                                      <p:rCtr x="-19076" y="23611"/>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nodeType="clickEffect">
                                  <p:stCondLst>
                                    <p:cond delay="0"/>
                                  </p:stCondLst>
                                  <p:childTnLst>
                                    <p:animMotion origin="layout" path="M 0.15273 -0.1375 L -0.20378 -0.36528 " pathEditMode="relative" rAng="0" ptsTypes="AA">
                                      <p:cBhvr>
                                        <p:cTn id="22" dur="2000" fill="hold"/>
                                        <p:tgtEl>
                                          <p:spTgt spid="24"/>
                                        </p:tgtEl>
                                        <p:attrNameLst>
                                          <p:attrName>ppt_x</p:attrName>
                                          <p:attrName>ppt_y</p:attrName>
                                        </p:attrNameLst>
                                      </p:cBhvr>
                                      <p:rCtr x="-17826" y="-11389"/>
                                    </p:animMotion>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0DF42474-98E8-141C-34B6-93983035394F}"/>
              </a:ext>
            </a:extLst>
          </p:cNvPr>
          <p:cNvPicPr>
            <a:picLocks noChangeAspect="1"/>
          </p:cNvPicPr>
          <p:nvPr/>
        </p:nvPicPr>
        <p:blipFill>
          <a:blip r:embed="rId2"/>
          <a:stretch>
            <a:fillRect/>
          </a:stretch>
        </p:blipFill>
        <p:spPr>
          <a:xfrm>
            <a:off x="0" y="-2409"/>
            <a:ext cx="12610160" cy="7050909"/>
          </a:xfrm>
          <a:prstGeom prst="rect">
            <a:avLst/>
          </a:prstGeom>
        </p:spPr>
      </p:pic>
      <p:sp>
        <p:nvSpPr>
          <p:cNvPr id="7" name="Rectangle : coins arrondis 6">
            <a:extLst>
              <a:ext uri="{FF2B5EF4-FFF2-40B4-BE49-F238E27FC236}">
                <a16:creationId xmlns:a16="http://schemas.microsoft.com/office/drawing/2014/main" id="{AF8985A7-FDF9-5E4D-A92F-4FF60791E4D4}"/>
              </a:ext>
            </a:extLst>
          </p:cNvPr>
          <p:cNvSpPr/>
          <p:nvPr/>
        </p:nvSpPr>
        <p:spPr>
          <a:xfrm>
            <a:off x="1017270" y="1489075"/>
            <a:ext cx="2160000" cy="54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2200" b="1" dirty="0" err="1"/>
              <a:t>Views</a:t>
            </a:r>
            <a:endParaRPr lang="fr-CH" sz="2200" b="1" dirty="0"/>
          </a:p>
        </p:txBody>
      </p:sp>
      <p:sp>
        <p:nvSpPr>
          <p:cNvPr id="10" name="Rectangle : coins arrondis 9">
            <a:extLst>
              <a:ext uri="{FF2B5EF4-FFF2-40B4-BE49-F238E27FC236}">
                <a16:creationId xmlns:a16="http://schemas.microsoft.com/office/drawing/2014/main" id="{94A88223-8AEA-D2AC-CFD8-F5BEE8A581E3}"/>
              </a:ext>
            </a:extLst>
          </p:cNvPr>
          <p:cNvSpPr/>
          <p:nvPr/>
        </p:nvSpPr>
        <p:spPr>
          <a:xfrm>
            <a:off x="5016000" y="3794863"/>
            <a:ext cx="2160000" cy="54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2200" b="1" dirty="0"/>
              <a:t>Controller</a:t>
            </a:r>
          </a:p>
        </p:txBody>
      </p:sp>
      <p:sp>
        <p:nvSpPr>
          <p:cNvPr id="11" name="Rectangle : coins arrondis 10">
            <a:extLst>
              <a:ext uri="{FF2B5EF4-FFF2-40B4-BE49-F238E27FC236}">
                <a16:creationId xmlns:a16="http://schemas.microsoft.com/office/drawing/2014/main" id="{6727D301-B354-CD95-2AB2-578D3F5DEA69}"/>
              </a:ext>
            </a:extLst>
          </p:cNvPr>
          <p:cNvSpPr/>
          <p:nvPr/>
        </p:nvSpPr>
        <p:spPr>
          <a:xfrm>
            <a:off x="9014730" y="1489075"/>
            <a:ext cx="2160000" cy="54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2200" b="1" dirty="0"/>
              <a:t>Model</a:t>
            </a:r>
          </a:p>
        </p:txBody>
      </p:sp>
      <p:sp>
        <p:nvSpPr>
          <p:cNvPr id="12" name="Rectangle : coins arrondis 11">
            <a:extLst>
              <a:ext uri="{FF2B5EF4-FFF2-40B4-BE49-F238E27FC236}">
                <a16:creationId xmlns:a16="http://schemas.microsoft.com/office/drawing/2014/main" id="{0EEAA981-F9B3-41EA-DD40-4800A38ADD02}"/>
              </a:ext>
            </a:extLst>
          </p:cNvPr>
          <p:cNvSpPr/>
          <p:nvPr/>
        </p:nvSpPr>
        <p:spPr>
          <a:xfrm>
            <a:off x="1015380" y="2154321"/>
            <a:ext cx="1422400" cy="2667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fr-CH" dirty="0" err="1"/>
              <a:t>MenuBar</a:t>
            </a:r>
            <a:endParaRPr lang="fr-CH" dirty="0"/>
          </a:p>
        </p:txBody>
      </p:sp>
      <p:sp>
        <p:nvSpPr>
          <p:cNvPr id="13" name="Rectangle : coins arrondis 12">
            <a:extLst>
              <a:ext uri="{FF2B5EF4-FFF2-40B4-BE49-F238E27FC236}">
                <a16:creationId xmlns:a16="http://schemas.microsoft.com/office/drawing/2014/main" id="{CB60E3E5-214C-FAAC-18C6-A045A263CDCE}"/>
              </a:ext>
            </a:extLst>
          </p:cNvPr>
          <p:cNvSpPr/>
          <p:nvPr/>
        </p:nvSpPr>
        <p:spPr>
          <a:xfrm>
            <a:off x="1015380" y="2499630"/>
            <a:ext cx="1422400" cy="2667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fr-CH" dirty="0"/>
              <a:t>Formulaire</a:t>
            </a:r>
          </a:p>
        </p:txBody>
      </p:sp>
      <p:sp>
        <p:nvSpPr>
          <p:cNvPr id="19" name="Rectangle : coins arrondis 18">
            <a:extLst>
              <a:ext uri="{FF2B5EF4-FFF2-40B4-BE49-F238E27FC236}">
                <a16:creationId xmlns:a16="http://schemas.microsoft.com/office/drawing/2014/main" id="{DDA64B08-7C79-2A3A-B313-26CAEE4432E8}"/>
              </a:ext>
            </a:extLst>
          </p:cNvPr>
          <p:cNvSpPr/>
          <p:nvPr/>
        </p:nvSpPr>
        <p:spPr>
          <a:xfrm>
            <a:off x="1015380" y="2809248"/>
            <a:ext cx="1422400" cy="2667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fr-CH" dirty="0"/>
              <a:t>Table</a:t>
            </a:r>
          </a:p>
        </p:txBody>
      </p:sp>
      <p:sp>
        <p:nvSpPr>
          <p:cNvPr id="20" name="Rectangle : coins arrondis 19">
            <a:extLst>
              <a:ext uri="{FF2B5EF4-FFF2-40B4-BE49-F238E27FC236}">
                <a16:creationId xmlns:a16="http://schemas.microsoft.com/office/drawing/2014/main" id="{C2226D14-03CF-AFDF-81CB-AD3AE35592F7}"/>
              </a:ext>
            </a:extLst>
          </p:cNvPr>
          <p:cNvSpPr/>
          <p:nvPr/>
        </p:nvSpPr>
        <p:spPr>
          <a:xfrm>
            <a:off x="1015380" y="3118866"/>
            <a:ext cx="1422400" cy="2667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fr-CH" dirty="0"/>
              <a:t>Totaux</a:t>
            </a:r>
          </a:p>
        </p:txBody>
      </p:sp>
      <p:sp>
        <p:nvSpPr>
          <p:cNvPr id="21" name="Rectangle : coins arrondis 20">
            <a:extLst>
              <a:ext uri="{FF2B5EF4-FFF2-40B4-BE49-F238E27FC236}">
                <a16:creationId xmlns:a16="http://schemas.microsoft.com/office/drawing/2014/main" id="{1D10F284-2AA7-E37E-CB0E-F3D99833CAC6}"/>
              </a:ext>
            </a:extLst>
          </p:cNvPr>
          <p:cNvSpPr/>
          <p:nvPr/>
        </p:nvSpPr>
        <p:spPr>
          <a:xfrm>
            <a:off x="1015380" y="3428484"/>
            <a:ext cx="1422400" cy="2667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fr-CH" dirty="0"/>
              <a:t>Filtres</a:t>
            </a:r>
          </a:p>
        </p:txBody>
      </p:sp>
      <p:sp>
        <p:nvSpPr>
          <p:cNvPr id="22" name="Rectangle : coins arrondis 21">
            <a:extLst>
              <a:ext uri="{FF2B5EF4-FFF2-40B4-BE49-F238E27FC236}">
                <a16:creationId xmlns:a16="http://schemas.microsoft.com/office/drawing/2014/main" id="{D76D9070-FBA5-B239-AA94-5D71E02B66C7}"/>
              </a:ext>
            </a:extLst>
          </p:cNvPr>
          <p:cNvSpPr/>
          <p:nvPr/>
        </p:nvSpPr>
        <p:spPr>
          <a:xfrm>
            <a:off x="5298873" y="4457145"/>
            <a:ext cx="1663700" cy="275237"/>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1200" dirty="0"/>
              <a:t>Intermédiaire</a:t>
            </a:r>
          </a:p>
        </p:txBody>
      </p:sp>
      <p:sp>
        <p:nvSpPr>
          <p:cNvPr id="24" name="Flèche : droite 23">
            <a:extLst>
              <a:ext uri="{FF2B5EF4-FFF2-40B4-BE49-F238E27FC236}">
                <a16:creationId xmlns:a16="http://schemas.microsoft.com/office/drawing/2014/main" id="{097DF873-C980-DAC6-7B90-1C0B1A6A4F22}"/>
              </a:ext>
            </a:extLst>
          </p:cNvPr>
          <p:cNvSpPr/>
          <p:nvPr/>
        </p:nvSpPr>
        <p:spPr>
          <a:xfrm rot="10800000">
            <a:off x="3614827" y="1689388"/>
            <a:ext cx="4962346" cy="208800"/>
          </a:xfrm>
          <a:prstGeom prst="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5" name="Flèche : droite 24">
            <a:extLst>
              <a:ext uri="{FF2B5EF4-FFF2-40B4-BE49-F238E27FC236}">
                <a16:creationId xmlns:a16="http://schemas.microsoft.com/office/drawing/2014/main" id="{68CDCC2C-170C-4BD8-1386-487053662012}"/>
              </a:ext>
            </a:extLst>
          </p:cNvPr>
          <p:cNvSpPr/>
          <p:nvPr/>
        </p:nvSpPr>
        <p:spPr>
          <a:xfrm rot="13407982">
            <a:off x="2924971" y="2730348"/>
            <a:ext cx="2071404" cy="208800"/>
          </a:xfrm>
          <a:prstGeom prst="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7" name="Flèche : droite 26">
            <a:extLst>
              <a:ext uri="{FF2B5EF4-FFF2-40B4-BE49-F238E27FC236}">
                <a16:creationId xmlns:a16="http://schemas.microsoft.com/office/drawing/2014/main" id="{C4EEB08E-BCF8-CB72-DB39-92EDC70814DA}"/>
              </a:ext>
            </a:extLst>
          </p:cNvPr>
          <p:cNvSpPr/>
          <p:nvPr/>
        </p:nvSpPr>
        <p:spPr>
          <a:xfrm rot="19058954">
            <a:off x="7106722" y="2852968"/>
            <a:ext cx="2071404" cy="208800"/>
          </a:xfrm>
          <a:prstGeom prst="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8" name="Flèche : droite 27">
            <a:extLst>
              <a:ext uri="{FF2B5EF4-FFF2-40B4-BE49-F238E27FC236}">
                <a16:creationId xmlns:a16="http://schemas.microsoft.com/office/drawing/2014/main" id="{E1B67F4B-C0E9-CD47-87E2-D95F6379E995}"/>
              </a:ext>
            </a:extLst>
          </p:cNvPr>
          <p:cNvSpPr/>
          <p:nvPr/>
        </p:nvSpPr>
        <p:spPr>
          <a:xfrm rot="2567767">
            <a:off x="3310732" y="2830175"/>
            <a:ext cx="2071404" cy="208800"/>
          </a:xfrm>
          <a:prstGeom prst="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29" name="ZoneTexte 28">
            <a:extLst>
              <a:ext uri="{FF2B5EF4-FFF2-40B4-BE49-F238E27FC236}">
                <a16:creationId xmlns:a16="http://schemas.microsoft.com/office/drawing/2014/main" id="{88FF0175-CA79-8AFE-9779-E0FD2C59904D}"/>
              </a:ext>
            </a:extLst>
          </p:cNvPr>
          <p:cNvSpPr txBox="1"/>
          <p:nvPr/>
        </p:nvSpPr>
        <p:spPr>
          <a:xfrm>
            <a:off x="4759737" y="1339621"/>
            <a:ext cx="2672526" cy="369332"/>
          </a:xfrm>
          <a:prstGeom prst="rect">
            <a:avLst/>
          </a:prstGeom>
          <a:noFill/>
        </p:spPr>
        <p:txBody>
          <a:bodyPr wrap="none" rtlCol="0">
            <a:spAutoFit/>
          </a:bodyPr>
          <a:lstStyle/>
          <a:p>
            <a:r>
              <a:rPr lang="fr-CH" dirty="0"/>
              <a:t>Transmets les données</a:t>
            </a:r>
          </a:p>
        </p:txBody>
      </p:sp>
      <p:sp>
        <p:nvSpPr>
          <p:cNvPr id="30" name="ZoneTexte 29">
            <a:extLst>
              <a:ext uri="{FF2B5EF4-FFF2-40B4-BE49-F238E27FC236}">
                <a16:creationId xmlns:a16="http://schemas.microsoft.com/office/drawing/2014/main" id="{7018A670-49D9-B1F1-4D9D-36D01AD8CAAD}"/>
              </a:ext>
            </a:extLst>
          </p:cNvPr>
          <p:cNvSpPr txBox="1"/>
          <p:nvPr/>
        </p:nvSpPr>
        <p:spPr>
          <a:xfrm rot="19020431">
            <a:off x="7438824" y="2818868"/>
            <a:ext cx="1770036" cy="276999"/>
          </a:xfrm>
          <a:prstGeom prst="rect">
            <a:avLst/>
          </a:prstGeom>
          <a:noFill/>
        </p:spPr>
        <p:txBody>
          <a:bodyPr wrap="none" rtlCol="0">
            <a:spAutoFit/>
          </a:bodyPr>
          <a:lstStyle/>
          <a:p>
            <a:r>
              <a:rPr lang="fr-CH" sz="1200" dirty="0"/>
              <a:t>Transmets une action</a:t>
            </a:r>
          </a:p>
        </p:txBody>
      </p:sp>
      <p:sp>
        <p:nvSpPr>
          <p:cNvPr id="31" name="ZoneTexte 30">
            <a:extLst>
              <a:ext uri="{FF2B5EF4-FFF2-40B4-BE49-F238E27FC236}">
                <a16:creationId xmlns:a16="http://schemas.microsoft.com/office/drawing/2014/main" id="{B0C21C4B-049E-B575-F133-FA34A3F70CF1}"/>
              </a:ext>
            </a:extLst>
          </p:cNvPr>
          <p:cNvSpPr txBox="1"/>
          <p:nvPr/>
        </p:nvSpPr>
        <p:spPr>
          <a:xfrm rot="2582481">
            <a:off x="2821713" y="2893488"/>
            <a:ext cx="2207656" cy="276999"/>
          </a:xfrm>
          <a:prstGeom prst="rect">
            <a:avLst/>
          </a:prstGeom>
          <a:noFill/>
        </p:spPr>
        <p:txBody>
          <a:bodyPr wrap="none" rtlCol="0">
            <a:spAutoFit/>
          </a:bodyPr>
          <a:lstStyle/>
          <a:p>
            <a:r>
              <a:rPr lang="fr-CH" sz="1200" dirty="0"/>
              <a:t>Notifie changement d’état</a:t>
            </a:r>
          </a:p>
        </p:txBody>
      </p:sp>
      <p:sp>
        <p:nvSpPr>
          <p:cNvPr id="33" name="ZoneTexte 32">
            <a:extLst>
              <a:ext uri="{FF2B5EF4-FFF2-40B4-BE49-F238E27FC236}">
                <a16:creationId xmlns:a16="http://schemas.microsoft.com/office/drawing/2014/main" id="{0D1AD642-91CD-DE49-DB01-A5A2B8395AD6}"/>
              </a:ext>
            </a:extLst>
          </p:cNvPr>
          <p:cNvSpPr txBox="1"/>
          <p:nvPr/>
        </p:nvSpPr>
        <p:spPr>
          <a:xfrm rot="2582481">
            <a:off x="3732479" y="2642941"/>
            <a:ext cx="1473480" cy="276999"/>
          </a:xfrm>
          <a:prstGeom prst="rect">
            <a:avLst/>
          </a:prstGeom>
          <a:noFill/>
        </p:spPr>
        <p:txBody>
          <a:bodyPr wrap="none" rtlCol="0">
            <a:spAutoFit/>
          </a:bodyPr>
          <a:lstStyle/>
          <a:p>
            <a:r>
              <a:rPr lang="fr-CH" sz="1200" dirty="0"/>
              <a:t>Actions utilisateur</a:t>
            </a:r>
          </a:p>
        </p:txBody>
      </p:sp>
      <p:sp>
        <p:nvSpPr>
          <p:cNvPr id="34" name="Rectangle : coins arrondis 33">
            <a:extLst>
              <a:ext uri="{FF2B5EF4-FFF2-40B4-BE49-F238E27FC236}">
                <a16:creationId xmlns:a16="http://schemas.microsoft.com/office/drawing/2014/main" id="{18779CF7-E02B-5C2C-2F84-87E9F5210D85}"/>
              </a:ext>
            </a:extLst>
          </p:cNvPr>
          <p:cNvSpPr/>
          <p:nvPr/>
        </p:nvSpPr>
        <p:spPr>
          <a:xfrm>
            <a:off x="9209993" y="2205343"/>
            <a:ext cx="1964737" cy="215678"/>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fr-CH" sz="1200" dirty="0"/>
              <a:t>Insère les entrées</a:t>
            </a:r>
          </a:p>
        </p:txBody>
      </p:sp>
      <p:sp>
        <p:nvSpPr>
          <p:cNvPr id="35" name="Flèche : droite 34">
            <a:extLst>
              <a:ext uri="{FF2B5EF4-FFF2-40B4-BE49-F238E27FC236}">
                <a16:creationId xmlns:a16="http://schemas.microsoft.com/office/drawing/2014/main" id="{B51CDC17-60B8-E0B4-66C4-AC768493E9CC}"/>
              </a:ext>
            </a:extLst>
          </p:cNvPr>
          <p:cNvSpPr/>
          <p:nvPr/>
        </p:nvSpPr>
        <p:spPr>
          <a:xfrm rot="8256412">
            <a:off x="6762163" y="2943684"/>
            <a:ext cx="2071404" cy="208800"/>
          </a:xfrm>
          <a:prstGeom prst="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6" name="ZoneTexte 35">
            <a:extLst>
              <a:ext uri="{FF2B5EF4-FFF2-40B4-BE49-F238E27FC236}">
                <a16:creationId xmlns:a16="http://schemas.microsoft.com/office/drawing/2014/main" id="{B3F12FCB-67FE-B5E3-732D-F8A53CF053A7}"/>
              </a:ext>
            </a:extLst>
          </p:cNvPr>
          <p:cNvSpPr txBox="1"/>
          <p:nvPr/>
        </p:nvSpPr>
        <p:spPr>
          <a:xfrm rot="19020431">
            <a:off x="6646293" y="2804099"/>
            <a:ext cx="2028119" cy="276999"/>
          </a:xfrm>
          <a:prstGeom prst="rect">
            <a:avLst/>
          </a:prstGeom>
          <a:noFill/>
        </p:spPr>
        <p:txBody>
          <a:bodyPr wrap="none" rtlCol="0">
            <a:spAutoFit/>
          </a:bodyPr>
          <a:lstStyle/>
          <a:p>
            <a:r>
              <a:rPr lang="fr-CH" sz="1200" dirty="0"/>
              <a:t>Informe du changement</a:t>
            </a:r>
          </a:p>
        </p:txBody>
      </p:sp>
      <p:sp>
        <p:nvSpPr>
          <p:cNvPr id="37" name="Rectangle : coins arrondis 36">
            <a:extLst>
              <a:ext uri="{FF2B5EF4-FFF2-40B4-BE49-F238E27FC236}">
                <a16:creationId xmlns:a16="http://schemas.microsoft.com/office/drawing/2014/main" id="{E9AA9D89-3A05-B282-7CA6-B99B4E77B9A4}"/>
              </a:ext>
            </a:extLst>
          </p:cNvPr>
          <p:cNvSpPr/>
          <p:nvPr/>
        </p:nvSpPr>
        <p:spPr>
          <a:xfrm>
            <a:off x="9209992" y="2499630"/>
            <a:ext cx="1964737" cy="215678"/>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fr-CH" sz="1200" dirty="0"/>
              <a:t>Supprime les entrées</a:t>
            </a:r>
          </a:p>
        </p:txBody>
      </p:sp>
      <p:sp>
        <p:nvSpPr>
          <p:cNvPr id="38" name="Rectangle : coins arrondis 37">
            <a:extLst>
              <a:ext uri="{FF2B5EF4-FFF2-40B4-BE49-F238E27FC236}">
                <a16:creationId xmlns:a16="http://schemas.microsoft.com/office/drawing/2014/main" id="{8436F8DD-7A49-EF3D-C9A9-78744B4D6706}"/>
              </a:ext>
            </a:extLst>
          </p:cNvPr>
          <p:cNvSpPr/>
          <p:nvPr/>
        </p:nvSpPr>
        <p:spPr>
          <a:xfrm>
            <a:off x="9209992" y="2793917"/>
            <a:ext cx="1964737" cy="215678"/>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fr-CH" sz="1200" dirty="0"/>
              <a:t>Applique les filtres</a:t>
            </a:r>
          </a:p>
        </p:txBody>
      </p:sp>
      <p:sp>
        <p:nvSpPr>
          <p:cNvPr id="39" name="Rectangle : coins arrondis 38">
            <a:extLst>
              <a:ext uri="{FF2B5EF4-FFF2-40B4-BE49-F238E27FC236}">
                <a16:creationId xmlns:a16="http://schemas.microsoft.com/office/drawing/2014/main" id="{1F75654C-410D-04A9-0070-8C14C8A95438}"/>
              </a:ext>
            </a:extLst>
          </p:cNvPr>
          <p:cNvSpPr/>
          <p:nvPr/>
        </p:nvSpPr>
        <p:spPr>
          <a:xfrm>
            <a:off x="9209992" y="3088204"/>
            <a:ext cx="1964737" cy="215678"/>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fr-CH" sz="1200" dirty="0"/>
              <a:t>Effectue les calculs</a:t>
            </a:r>
          </a:p>
        </p:txBody>
      </p:sp>
      <p:sp>
        <p:nvSpPr>
          <p:cNvPr id="40" name="Rectangle : coins arrondis 39">
            <a:extLst>
              <a:ext uri="{FF2B5EF4-FFF2-40B4-BE49-F238E27FC236}">
                <a16:creationId xmlns:a16="http://schemas.microsoft.com/office/drawing/2014/main" id="{F846718C-E8F1-C2C7-22C2-382AB61BF3D0}"/>
              </a:ext>
            </a:extLst>
          </p:cNvPr>
          <p:cNvSpPr/>
          <p:nvPr/>
        </p:nvSpPr>
        <p:spPr>
          <a:xfrm>
            <a:off x="9209992" y="3371895"/>
            <a:ext cx="1964737" cy="215678"/>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fr-CH" sz="1200" dirty="0"/>
              <a:t>Gère les ‘’</a:t>
            </a:r>
            <a:r>
              <a:rPr lang="fr-CH" sz="1200" dirty="0" err="1"/>
              <a:t>Accounts</a:t>
            </a:r>
            <a:r>
              <a:rPr lang="fr-CH" sz="1200" dirty="0"/>
              <a:t>’’</a:t>
            </a:r>
          </a:p>
        </p:txBody>
      </p:sp>
      <p:sp>
        <p:nvSpPr>
          <p:cNvPr id="41" name="Rectangle : coins arrondis 40">
            <a:extLst>
              <a:ext uri="{FF2B5EF4-FFF2-40B4-BE49-F238E27FC236}">
                <a16:creationId xmlns:a16="http://schemas.microsoft.com/office/drawing/2014/main" id="{9E31E072-22E8-D819-16BD-959607A0607B}"/>
              </a:ext>
            </a:extLst>
          </p:cNvPr>
          <p:cNvSpPr/>
          <p:nvPr/>
        </p:nvSpPr>
        <p:spPr>
          <a:xfrm>
            <a:off x="5298873" y="4854664"/>
            <a:ext cx="1663700" cy="275237"/>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1200" dirty="0" err="1"/>
              <a:t>Get</a:t>
            </a:r>
            <a:r>
              <a:rPr lang="fr-CH" sz="1200" dirty="0"/>
              <a:t> / Set</a:t>
            </a:r>
          </a:p>
        </p:txBody>
      </p:sp>
      <p:sp>
        <p:nvSpPr>
          <p:cNvPr id="42" name="Rectangle : coins arrondis 41">
            <a:extLst>
              <a:ext uri="{FF2B5EF4-FFF2-40B4-BE49-F238E27FC236}">
                <a16:creationId xmlns:a16="http://schemas.microsoft.com/office/drawing/2014/main" id="{9516C05D-1E50-3B74-2E26-43E58DEFB031}"/>
              </a:ext>
            </a:extLst>
          </p:cNvPr>
          <p:cNvSpPr/>
          <p:nvPr/>
        </p:nvSpPr>
        <p:spPr>
          <a:xfrm>
            <a:off x="5298873" y="5252183"/>
            <a:ext cx="1663700" cy="275237"/>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1200" dirty="0"/>
              <a:t>Défini l’apparence</a:t>
            </a:r>
          </a:p>
        </p:txBody>
      </p:sp>
      <p:sp>
        <p:nvSpPr>
          <p:cNvPr id="43" name="Rectangle : coins arrondis 42">
            <a:extLst>
              <a:ext uri="{FF2B5EF4-FFF2-40B4-BE49-F238E27FC236}">
                <a16:creationId xmlns:a16="http://schemas.microsoft.com/office/drawing/2014/main" id="{8D9946DC-2F47-1ADB-EA8B-C84A4C465DE4}"/>
              </a:ext>
            </a:extLst>
          </p:cNvPr>
          <p:cNvSpPr/>
          <p:nvPr/>
        </p:nvSpPr>
        <p:spPr>
          <a:xfrm>
            <a:off x="5298873" y="5649702"/>
            <a:ext cx="1663700" cy="275237"/>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1200" dirty="0"/>
              <a:t>Actions du menu</a:t>
            </a:r>
          </a:p>
        </p:txBody>
      </p:sp>
    </p:spTree>
    <p:extLst>
      <p:ext uri="{BB962C8B-B14F-4D97-AF65-F5344CB8AC3E}">
        <p14:creationId xmlns:p14="http://schemas.microsoft.com/office/powerpoint/2010/main" val="2065645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3E6D-CD78-1651-2B48-E39326D203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47D0F2-4E21-78D4-846A-7E83204308C1}"/>
              </a:ext>
            </a:extLst>
          </p:cNvPr>
          <p:cNvSpPr>
            <a:spLocks noGrp="1"/>
          </p:cNvSpPr>
          <p:nvPr>
            <p:ph type="title"/>
          </p:nvPr>
        </p:nvSpPr>
        <p:spPr>
          <a:xfrm>
            <a:off x="734546" y="4487332"/>
            <a:ext cx="8534400" cy="1507067"/>
          </a:xfrm>
        </p:spPr>
        <p:txBody>
          <a:bodyPr/>
          <a:lstStyle/>
          <a:p>
            <a:endParaRPr lang="fr-CH"/>
          </a:p>
        </p:txBody>
      </p:sp>
      <p:sp>
        <p:nvSpPr>
          <p:cNvPr id="3" name="Espace réservé du contenu 2">
            <a:extLst>
              <a:ext uri="{FF2B5EF4-FFF2-40B4-BE49-F238E27FC236}">
                <a16:creationId xmlns:a16="http://schemas.microsoft.com/office/drawing/2014/main" id="{182FF155-B88D-786C-4B86-55BEA7626982}"/>
              </a:ext>
            </a:extLst>
          </p:cNvPr>
          <p:cNvSpPr>
            <a:spLocks noGrp="1"/>
          </p:cNvSpPr>
          <p:nvPr>
            <p:ph idx="1"/>
          </p:nvPr>
        </p:nvSpPr>
        <p:spPr>
          <a:xfrm>
            <a:off x="734546" y="685800"/>
            <a:ext cx="8534400" cy="3615267"/>
          </a:xfrm>
        </p:spPr>
        <p:txBody>
          <a:bodyPr/>
          <a:lstStyle/>
          <a:p>
            <a:endParaRPr lang="fr-CH"/>
          </a:p>
        </p:txBody>
      </p:sp>
      <p:pic>
        <p:nvPicPr>
          <p:cNvPr id="4" name="Image 3">
            <a:extLst>
              <a:ext uri="{FF2B5EF4-FFF2-40B4-BE49-F238E27FC236}">
                <a16:creationId xmlns:a16="http://schemas.microsoft.com/office/drawing/2014/main" id="{C8B64B6F-6FF5-553E-5506-8BBD6E1F46D0}"/>
              </a:ext>
            </a:extLst>
          </p:cNvPr>
          <p:cNvPicPr>
            <a:picLocks noChangeAspect="1"/>
          </p:cNvPicPr>
          <p:nvPr/>
        </p:nvPicPr>
        <p:blipFill>
          <a:blip r:embed="rId3"/>
          <a:stretch>
            <a:fillRect/>
          </a:stretch>
        </p:blipFill>
        <p:spPr>
          <a:xfrm>
            <a:off x="0" y="-2409"/>
            <a:ext cx="12610160" cy="7050909"/>
          </a:xfrm>
          <a:prstGeom prst="rect">
            <a:avLst/>
          </a:prstGeom>
        </p:spPr>
      </p:pic>
      <p:sp>
        <p:nvSpPr>
          <p:cNvPr id="7" name="Rectangle : coins arrondis 6">
            <a:extLst>
              <a:ext uri="{FF2B5EF4-FFF2-40B4-BE49-F238E27FC236}">
                <a16:creationId xmlns:a16="http://schemas.microsoft.com/office/drawing/2014/main" id="{69A82BE3-33F5-B5B8-2442-14A0F60B7165}"/>
              </a:ext>
            </a:extLst>
          </p:cNvPr>
          <p:cNvSpPr/>
          <p:nvPr/>
        </p:nvSpPr>
        <p:spPr>
          <a:xfrm>
            <a:off x="4196131" y="523182"/>
            <a:ext cx="3600000" cy="72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2200" b="1" dirty="0"/>
              <a:t>Bugs connus</a:t>
            </a:r>
          </a:p>
        </p:txBody>
      </p:sp>
      <p:sp>
        <p:nvSpPr>
          <p:cNvPr id="8" name="Rectangle : coins arrondis 7">
            <a:extLst>
              <a:ext uri="{FF2B5EF4-FFF2-40B4-BE49-F238E27FC236}">
                <a16:creationId xmlns:a16="http://schemas.microsoft.com/office/drawing/2014/main" id="{10C0B615-4452-A8F0-0B22-D7AABBDC5E03}"/>
              </a:ext>
            </a:extLst>
          </p:cNvPr>
          <p:cNvSpPr/>
          <p:nvPr/>
        </p:nvSpPr>
        <p:spPr>
          <a:xfrm>
            <a:off x="8023041" y="523182"/>
            <a:ext cx="3600000" cy="72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2200" b="1" dirty="0"/>
              <a:t>Difficultés rencontrées </a:t>
            </a:r>
          </a:p>
        </p:txBody>
      </p:sp>
      <p:sp>
        <p:nvSpPr>
          <p:cNvPr id="14" name="Rectangle : coins arrondis 13">
            <a:extLst>
              <a:ext uri="{FF2B5EF4-FFF2-40B4-BE49-F238E27FC236}">
                <a16:creationId xmlns:a16="http://schemas.microsoft.com/office/drawing/2014/main" id="{ACC43D73-D5B4-16C4-45B2-3CD54FF88529}"/>
              </a:ext>
            </a:extLst>
          </p:cNvPr>
          <p:cNvSpPr/>
          <p:nvPr/>
        </p:nvSpPr>
        <p:spPr>
          <a:xfrm>
            <a:off x="4195328" y="1351555"/>
            <a:ext cx="3600000" cy="669561"/>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L'enregistrement des projets en .csv ne se fait pas en UTF-8, ce qui génère des problèmes avec les caractères avec accents.</a:t>
            </a:r>
            <a:endParaRPr lang="fr-CH" sz="1200" dirty="0"/>
          </a:p>
        </p:txBody>
      </p:sp>
      <p:sp>
        <p:nvSpPr>
          <p:cNvPr id="30" name="Rectangle : coins arrondis 29">
            <a:extLst>
              <a:ext uri="{FF2B5EF4-FFF2-40B4-BE49-F238E27FC236}">
                <a16:creationId xmlns:a16="http://schemas.microsoft.com/office/drawing/2014/main" id="{A18BFE2F-891B-54BB-04BF-E853BCC40F3B}"/>
              </a:ext>
            </a:extLst>
          </p:cNvPr>
          <p:cNvSpPr/>
          <p:nvPr/>
        </p:nvSpPr>
        <p:spPr>
          <a:xfrm>
            <a:off x="4195328" y="2129489"/>
            <a:ext cx="3600000" cy="1701777"/>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Lorsqu'on a deux saisies qui ont le même libellé, la même date ainsi que la même valeur, soit dans Crédit soit dans Débit et que l'on souhaite supprimer cette entrée, nous ne savons pas comment se comporte l'application, à savoir si les deux entrées sont supprimées ou se seule l'une des deux l'est et laquelle.</a:t>
            </a:r>
            <a:endParaRPr lang="fr-CH" sz="1200" dirty="0"/>
          </a:p>
        </p:txBody>
      </p:sp>
      <p:sp>
        <p:nvSpPr>
          <p:cNvPr id="31" name="Rectangle : coins arrondis 30">
            <a:extLst>
              <a:ext uri="{FF2B5EF4-FFF2-40B4-BE49-F238E27FC236}">
                <a16:creationId xmlns:a16="http://schemas.microsoft.com/office/drawing/2014/main" id="{A800D49E-ED62-7DF6-B7FA-7A1B90E891CC}"/>
              </a:ext>
            </a:extLst>
          </p:cNvPr>
          <p:cNvSpPr/>
          <p:nvPr/>
        </p:nvSpPr>
        <p:spPr>
          <a:xfrm>
            <a:off x="4195328" y="3941028"/>
            <a:ext cx="3600000" cy="484298"/>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Pas mis de limite de taille à la liste </a:t>
            </a:r>
            <a:br>
              <a:rPr lang="fr-FR" sz="1200" dirty="0"/>
            </a:br>
            <a:r>
              <a:rPr lang="fr-FR" sz="1200" dirty="0"/>
              <a:t>des transactions</a:t>
            </a:r>
            <a:endParaRPr lang="fr-CH" sz="1200" dirty="0"/>
          </a:p>
        </p:txBody>
      </p:sp>
      <p:sp>
        <p:nvSpPr>
          <p:cNvPr id="32" name="Rectangle : coins arrondis 31">
            <a:extLst>
              <a:ext uri="{FF2B5EF4-FFF2-40B4-BE49-F238E27FC236}">
                <a16:creationId xmlns:a16="http://schemas.microsoft.com/office/drawing/2014/main" id="{DE7136C1-F9DE-146F-9B9E-96D4FE886750}"/>
              </a:ext>
            </a:extLst>
          </p:cNvPr>
          <p:cNvSpPr/>
          <p:nvPr/>
        </p:nvSpPr>
        <p:spPr>
          <a:xfrm>
            <a:off x="4195328" y="4535088"/>
            <a:ext cx="3600000" cy="48521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Pas mis de limite à la longueur des champs "Libellé" et "Montant"</a:t>
            </a:r>
            <a:endParaRPr lang="fr-CH" sz="1200" dirty="0"/>
          </a:p>
        </p:txBody>
      </p:sp>
      <p:sp>
        <p:nvSpPr>
          <p:cNvPr id="6" name="Rectangle : coins arrondis 5">
            <a:extLst>
              <a:ext uri="{FF2B5EF4-FFF2-40B4-BE49-F238E27FC236}">
                <a16:creationId xmlns:a16="http://schemas.microsoft.com/office/drawing/2014/main" id="{A8E3A6D8-E274-4A8B-AD55-6CEDC755B9F0}"/>
              </a:ext>
            </a:extLst>
          </p:cNvPr>
          <p:cNvSpPr/>
          <p:nvPr/>
        </p:nvSpPr>
        <p:spPr>
          <a:xfrm>
            <a:off x="369221" y="529722"/>
            <a:ext cx="3600000" cy="72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2200" b="1" dirty="0"/>
              <a:t>Améliorations possibles </a:t>
            </a:r>
          </a:p>
        </p:txBody>
      </p:sp>
      <p:sp>
        <p:nvSpPr>
          <p:cNvPr id="38" name="Rectangle : coins arrondis 37">
            <a:extLst>
              <a:ext uri="{FF2B5EF4-FFF2-40B4-BE49-F238E27FC236}">
                <a16:creationId xmlns:a16="http://schemas.microsoft.com/office/drawing/2014/main" id="{17CF76BD-EA58-671D-0271-2A226A77381E}"/>
              </a:ext>
            </a:extLst>
          </p:cNvPr>
          <p:cNvSpPr/>
          <p:nvPr/>
        </p:nvSpPr>
        <p:spPr>
          <a:xfrm>
            <a:off x="368129" y="1357784"/>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CH" sz="1200" dirty="0"/>
              <a:t>Popup d’ouverture pour ouvrir/créer </a:t>
            </a:r>
            <a:br>
              <a:rPr lang="fr-CH" sz="1200" dirty="0"/>
            </a:br>
            <a:r>
              <a:rPr lang="fr-CH" sz="1200" dirty="0"/>
              <a:t>un projet</a:t>
            </a:r>
          </a:p>
        </p:txBody>
      </p:sp>
      <p:sp>
        <p:nvSpPr>
          <p:cNvPr id="39" name="Rectangle : coins arrondis 38">
            <a:extLst>
              <a:ext uri="{FF2B5EF4-FFF2-40B4-BE49-F238E27FC236}">
                <a16:creationId xmlns:a16="http://schemas.microsoft.com/office/drawing/2014/main" id="{A7161211-2D86-6E29-FA9D-ADA5185CA6F3}"/>
              </a:ext>
            </a:extLst>
          </p:cNvPr>
          <p:cNvSpPr/>
          <p:nvPr/>
        </p:nvSpPr>
        <p:spPr>
          <a:xfrm>
            <a:off x="366530" y="1920822"/>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Ajouter "Enregistrer sous… " dans le </a:t>
            </a:r>
            <a:br>
              <a:rPr lang="fr-FR" sz="1200" dirty="0"/>
            </a:br>
            <a:r>
              <a:rPr lang="fr-FR" sz="1200" dirty="0"/>
              <a:t>Menu Fichier</a:t>
            </a:r>
            <a:endParaRPr lang="fr-CH" sz="1200" dirty="0"/>
          </a:p>
        </p:txBody>
      </p:sp>
      <p:sp>
        <p:nvSpPr>
          <p:cNvPr id="40" name="Rectangle : coins arrondis 39">
            <a:extLst>
              <a:ext uri="{FF2B5EF4-FFF2-40B4-BE49-F238E27FC236}">
                <a16:creationId xmlns:a16="http://schemas.microsoft.com/office/drawing/2014/main" id="{F4CCA9E2-6233-B226-673A-A43B68F51A0D}"/>
              </a:ext>
            </a:extLst>
          </p:cNvPr>
          <p:cNvSpPr/>
          <p:nvPr/>
        </p:nvSpPr>
        <p:spPr>
          <a:xfrm>
            <a:off x="366530" y="2478107"/>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Ajouter un manuel d'utilisateur dans le </a:t>
            </a:r>
            <a:br>
              <a:rPr lang="fr-FR" sz="1200" dirty="0"/>
            </a:br>
            <a:r>
              <a:rPr lang="fr-FR" sz="1200" dirty="0"/>
              <a:t>menu Help</a:t>
            </a:r>
          </a:p>
        </p:txBody>
      </p:sp>
      <p:sp>
        <p:nvSpPr>
          <p:cNvPr id="41" name="Rectangle : coins arrondis 40">
            <a:extLst>
              <a:ext uri="{FF2B5EF4-FFF2-40B4-BE49-F238E27FC236}">
                <a16:creationId xmlns:a16="http://schemas.microsoft.com/office/drawing/2014/main" id="{923055B3-1304-F4CE-11AB-A19E29F88D24}"/>
              </a:ext>
            </a:extLst>
          </p:cNvPr>
          <p:cNvSpPr/>
          <p:nvPr/>
        </p:nvSpPr>
        <p:spPr>
          <a:xfrm>
            <a:off x="366530" y="3035392"/>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Ajouter un type de dépense exemple</a:t>
            </a:r>
            <a:br>
              <a:rPr lang="fr-FR" sz="1200" dirty="0"/>
            </a:br>
            <a:r>
              <a:rPr lang="fr-FR" sz="1200" dirty="0"/>
              <a:t> (loisir, nourriture, fixe, etc.)</a:t>
            </a:r>
          </a:p>
        </p:txBody>
      </p:sp>
      <p:sp>
        <p:nvSpPr>
          <p:cNvPr id="42" name="Rectangle : coins arrondis 41">
            <a:extLst>
              <a:ext uri="{FF2B5EF4-FFF2-40B4-BE49-F238E27FC236}">
                <a16:creationId xmlns:a16="http://schemas.microsoft.com/office/drawing/2014/main" id="{A559614C-F378-C562-884C-66DDCA7E9D5D}"/>
              </a:ext>
            </a:extLst>
          </p:cNvPr>
          <p:cNvSpPr/>
          <p:nvPr/>
        </p:nvSpPr>
        <p:spPr>
          <a:xfrm>
            <a:off x="366530" y="3592677"/>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Améliorer les messages d'erreur sur les </a:t>
            </a:r>
            <a:br>
              <a:rPr lang="fr-FR" sz="1200" dirty="0"/>
            </a:br>
            <a:r>
              <a:rPr lang="fr-FR" sz="1200" dirty="0"/>
              <a:t>valeurs non-renseignées.</a:t>
            </a:r>
            <a:endParaRPr lang="fr-CH" sz="1200" dirty="0"/>
          </a:p>
        </p:txBody>
      </p:sp>
      <p:sp>
        <p:nvSpPr>
          <p:cNvPr id="43" name="Rectangle : coins arrondis 42">
            <a:extLst>
              <a:ext uri="{FF2B5EF4-FFF2-40B4-BE49-F238E27FC236}">
                <a16:creationId xmlns:a16="http://schemas.microsoft.com/office/drawing/2014/main" id="{C5DE8971-5ADA-F7B5-51F7-7D23D442C040}"/>
              </a:ext>
            </a:extLst>
          </p:cNvPr>
          <p:cNvSpPr/>
          <p:nvPr/>
        </p:nvSpPr>
        <p:spPr>
          <a:xfrm>
            <a:off x="366530" y="4149962"/>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mettre en surbrillance les champs incorrects lors d’erreurs</a:t>
            </a:r>
            <a:endParaRPr lang="fr-CH" sz="1200" dirty="0"/>
          </a:p>
        </p:txBody>
      </p:sp>
      <p:sp>
        <p:nvSpPr>
          <p:cNvPr id="44" name="Rectangle : coins arrondis 43">
            <a:extLst>
              <a:ext uri="{FF2B5EF4-FFF2-40B4-BE49-F238E27FC236}">
                <a16:creationId xmlns:a16="http://schemas.microsoft.com/office/drawing/2014/main" id="{25120E85-A956-5683-C213-4FC1E49914CB}"/>
              </a:ext>
            </a:extLst>
          </p:cNvPr>
          <p:cNvSpPr/>
          <p:nvPr/>
        </p:nvSpPr>
        <p:spPr>
          <a:xfrm>
            <a:off x="366530" y="4707592"/>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Proposer d’enregistrer  le projet au moment de quitter</a:t>
            </a:r>
            <a:endParaRPr lang="fr-CH" sz="1200" dirty="0"/>
          </a:p>
        </p:txBody>
      </p:sp>
      <p:sp>
        <p:nvSpPr>
          <p:cNvPr id="45" name="Rectangle : coins arrondis 44">
            <a:extLst>
              <a:ext uri="{FF2B5EF4-FFF2-40B4-BE49-F238E27FC236}">
                <a16:creationId xmlns:a16="http://schemas.microsoft.com/office/drawing/2014/main" id="{E4CCB111-A657-EC42-E2FE-7A3EBDA3370F}"/>
              </a:ext>
            </a:extLst>
          </p:cNvPr>
          <p:cNvSpPr/>
          <p:nvPr/>
        </p:nvSpPr>
        <p:spPr>
          <a:xfrm>
            <a:off x="366530" y="5260685"/>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Interdire de commencer avec un zéro dans la saisie du montant </a:t>
            </a:r>
          </a:p>
        </p:txBody>
      </p:sp>
      <p:sp>
        <p:nvSpPr>
          <p:cNvPr id="46" name="Rectangle : coins arrondis 45">
            <a:extLst>
              <a:ext uri="{FF2B5EF4-FFF2-40B4-BE49-F238E27FC236}">
                <a16:creationId xmlns:a16="http://schemas.microsoft.com/office/drawing/2014/main" id="{5E685A34-CFCC-A0B7-8BEF-4713C1F1512E}"/>
              </a:ext>
            </a:extLst>
          </p:cNvPr>
          <p:cNvSpPr/>
          <p:nvPr/>
        </p:nvSpPr>
        <p:spPr>
          <a:xfrm>
            <a:off x="366530" y="5813778"/>
            <a:ext cx="3600000" cy="45000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Ajouter un bouton pour éditer une ligne</a:t>
            </a:r>
          </a:p>
        </p:txBody>
      </p:sp>
      <p:sp>
        <p:nvSpPr>
          <p:cNvPr id="47" name="Rectangle : coins arrondis 46">
            <a:extLst>
              <a:ext uri="{FF2B5EF4-FFF2-40B4-BE49-F238E27FC236}">
                <a16:creationId xmlns:a16="http://schemas.microsoft.com/office/drawing/2014/main" id="{FA242D81-3B82-3C56-839E-4082ADA8F481}"/>
              </a:ext>
            </a:extLst>
          </p:cNvPr>
          <p:cNvSpPr/>
          <p:nvPr/>
        </p:nvSpPr>
        <p:spPr>
          <a:xfrm>
            <a:off x="8004112" y="2655253"/>
            <a:ext cx="3636830" cy="596867"/>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La mise en place d'un filtre dynamique croisé entre les deux </a:t>
            </a:r>
            <a:r>
              <a:rPr lang="fr-FR" sz="1200" dirty="0" err="1"/>
              <a:t>Combobox</a:t>
            </a:r>
            <a:r>
              <a:rPr lang="fr-FR" sz="1200" dirty="0"/>
              <a:t> Date et Libellé</a:t>
            </a:r>
            <a:endParaRPr lang="fr-CH" sz="1200" dirty="0"/>
          </a:p>
        </p:txBody>
      </p:sp>
      <p:sp>
        <p:nvSpPr>
          <p:cNvPr id="48" name="Rectangle : coins arrondis 47">
            <a:extLst>
              <a:ext uri="{FF2B5EF4-FFF2-40B4-BE49-F238E27FC236}">
                <a16:creationId xmlns:a16="http://schemas.microsoft.com/office/drawing/2014/main" id="{E2530616-6CD1-D92B-E28D-C8FF03379430}"/>
              </a:ext>
            </a:extLst>
          </p:cNvPr>
          <p:cNvSpPr/>
          <p:nvPr/>
        </p:nvSpPr>
        <p:spPr>
          <a:xfrm>
            <a:off x="8022527" y="1991918"/>
            <a:ext cx="3600000" cy="561466"/>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La mise en place du </a:t>
            </a:r>
            <a:r>
              <a:rPr lang="fr-FR" sz="1200" dirty="0" err="1"/>
              <a:t>systèem</a:t>
            </a:r>
            <a:r>
              <a:rPr lang="fr-FR" sz="1200" dirty="0"/>
              <a:t> MVC, </a:t>
            </a:r>
            <a:r>
              <a:rPr lang="fr-FR" sz="1200" dirty="0" err="1"/>
              <a:t>notament</a:t>
            </a:r>
            <a:r>
              <a:rPr lang="fr-FR" sz="1200" dirty="0"/>
              <a:t> avec la table</a:t>
            </a:r>
            <a:endParaRPr lang="fr-CH" sz="1200" dirty="0"/>
          </a:p>
        </p:txBody>
      </p:sp>
      <p:sp>
        <p:nvSpPr>
          <p:cNvPr id="49" name="Rectangle : coins arrondis 48">
            <a:extLst>
              <a:ext uri="{FF2B5EF4-FFF2-40B4-BE49-F238E27FC236}">
                <a16:creationId xmlns:a16="http://schemas.microsoft.com/office/drawing/2014/main" id="{40C2DBCA-F0D6-BD54-F469-503241533EBA}"/>
              </a:ext>
            </a:extLst>
          </p:cNvPr>
          <p:cNvSpPr/>
          <p:nvPr/>
        </p:nvSpPr>
        <p:spPr>
          <a:xfrm>
            <a:off x="8022527" y="1351555"/>
            <a:ext cx="3600000" cy="538494"/>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mise en place de la table avec </a:t>
            </a:r>
            <a:r>
              <a:rPr lang="fr-FR" sz="1200" dirty="0" err="1"/>
              <a:t>avec</a:t>
            </a:r>
            <a:r>
              <a:rPr lang="fr-FR" sz="1200" dirty="0"/>
              <a:t> les rendus</a:t>
            </a:r>
            <a:endParaRPr lang="fr-CH" sz="1200" dirty="0"/>
          </a:p>
        </p:txBody>
      </p:sp>
      <p:sp>
        <p:nvSpPr>
          <p:cNvPr id="5" name="Rectangle : coins arrondis 4">
            <a:extLst>
              <a:ext uri="{FF2B5EF4-FFF2-40B4-BE49-F238E27FC236}">
                <a16:creationId xmlns:a16="http://schemas.microsoft.com/office/drawing/2014/main" id="{A42E8B97-1B31-0AD5-0592-3E7DF692C296}"/>
              </a:ext>
            </a:extLst>
          </p:cNvPr>
          <p:cNvSpPr/>
          <p:nvPr/>
        </p:nvSpPr>
        <p:spPr>
          <a:xfrm>
            <a:off x="8004112" y="3360281"/>
            <a:ext cx="3636830" cy="555033"/>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La difficulté de définir les taches de </a:t>
            </a:r>
            <a:r>
              <a:rPr lang="fr-FR" sz="1200" dirty="0" err="1"/>
              <a:t>chacuns</a:t>
            </a:r>
            <a:r>
              <a:rPr lang="fr-FR" sz="1200" dirty="0"/>
              <a:t> (travail en commun)</a:t>
            </a:r>
            <a:endParaRPr lang="fr-CH" sz="1200" dirty="0"/>
          </a:p>
        </p:txBody>
      </p:sp>
      <p:sp>
        <p:nvSpPr>
          <p:cNvPr id="15" name="Rectangle : coins arrondis 14">
            <a:extLst>
              <a:ext uri="{FF2B5EF4-FFF2-40B4-BE49-F238E27FC236}">
                <a16:creationId xmlns:a16="http://schemas.microsoft.com/office/drawing/2014/main" id="{DF658B29-6C52-1D38-33E3-3E67FFD54CAF}"/>
              </a:ext>
            </a:extLst>
          </p:cNvPr>
          <p:cNvSpPr/>
          <p:nvPr/>
        </p:nvSpPr>
        <p:spPr>
          <a:xfrm>
            <a:off x="8022527" y="4023196"/>
            <a:ext cx="3636830" cy="555741"/>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L'utilisation de GitHub, très capricieux, qui fait perdre un temps phénoménal</a:t>
            </a:r>
            <a:endParaRPr lang="fr-CH" sz="1200" dirty="0"/>
          </a:p>
        </p:txBody>
      </p:sp>
      <p:sp>
        <p:nvSpPr>
          <p:cNvPr id="16" name="Rectangle : coins arrondis 15">
            <a:extLst>
              <a:ext uri="{FF2B5EF4-FFF2-40B4-BE49-F238E27FC236}">
                <a16:creationId xmlns:a16="http://schemas.microsoft.com/office/drawing/2014/main" id="{E0E56B79-2790-2C1A-5FF0-2437F0561B0C}"/>
              </a:ext>
            </a:extLst>
          </p:cNvPr>
          <p:cNvSpPr/>
          <p:nvPr/>
        </p:nvSpPr>
        <p:spPr>
          <a:xfrm>
            <a:off x="8022527" y="4681531"/>
            <a:ext cx="3636830" cy="615490"/>
          </a:xfrm>
          <a:prstGeom prst="roundRect">
            <a:avLst/>
          </a:prstGeom>
          <a:ln>
            <a:solidFill>
              <a:schemeClr val="tx1">
                <a:lumMod val="8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dirty="0"/>
              <a:t>L'</a:t>
            </a:r>
            <a:r>
              <a:rPr lang="fr-FR" sz="1200" dirty="0" err="1"/>
              <a:t>utilsation</a:t>
            </a:r>
            <a:r>
              <a:rPr lang="fr-FR" sz="1200" dirty="0"/>
              <a:t> d'Eclipse, qui est aussi capricieux avec les projets et qui déteste les changements qu'il n'a pas initié</a:t>
            </a:r>
            <a:endParaRPr lang="fr-CH" sz="1200" dirty="0"/>
          </a:p>
        </p:txBody>
      </p:sp>
    </p:spTree>
    <p:extLst>
      <p:ext uri="{BB962C8B-B14F-4D97-AF65-F5344CB8AC3E}">
        <p14:creationId xmlns:p14="http://schemas.microsoft.com/office/powerpoint/2010/main" val="358094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99"/>
                                          </p:stCondLst>
                                        </p:cTn>
                                        <p:tgtEl>
                                          <p:spTgt spid="38">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199"/>
                                          </p:stCondLst>
                                        </p:cTn>
                                        <p:tgtEl>
                                          <p:spTgt spid="38">
                                            <p:txEl>
                                              <p:pRg st="0" end="0"/>
                                            </p:txEl>
                                          </p:spTgt>
                                        </p:tgtEl>
                                        <p:attrNameLst>
                                          <p:attrName>style.visibility</p:attrName>
                                        </p:attrNameLst>
                                      </p:cBhvr>
                                      <p:to>
                                        <p:strVal val="visible"/>
                                      </p:to>
                                    </p:set>
                                  </p:childTnLst>
                                </p:cTn>
                              </p:par>
                            </p:childTnLst>
                          </p:cTn>
                        </p:par>
                        <p:par>
                          <p:cTn id="17" fill="hold">
                            <p:stCondLst>
                              <p:cond delay="200"/>
                            </p:stCondLst>
                            <p:childTnLst>
                              <p:par>
                                <p:cTn id="18" presetID="1" presetClass="entr" presetSubtype="0" fill="hold" grpId="0" nodeType="afterEffect">
                                  <p:stCondLst>
                                    <p:cond delay="0"/>
                                  </p:stCondLst>
                                  <p:childTnLst>
                                    <p:set>
                                      <p:cBhvr>
                                        <p:cTn id="19" dur="1" fill="hold">
                                          <p:stCondLst>
                                            <p:cond delay="199"/>
                                          </p:stCondLst>
                                        </p:cTn>
                                        <p:tgtEl>
                                          <p:spTgt spid="39">
                                            <p:bg/>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199"/>
                                          </p:stCondLst>
                                        </p:cTn>
                                        <p:tgtEl>
                                          <p:spTgt spid="39">
                                            <p:txEl>
                                              <p:pRg st="0" end="0"/>
                                            </p:txEl>
                                          </p:spTgt>
                                        </p:tgtEl>
                                        <p:attrNameLst>
                                          <p:attrName>style.visibility</p:attrName>
                                        </p:attrNameLst>
                                      </p:cBhvr>
                                      <p:to>
                                        <p:strVal val="visible"/>
                                      </p:to>
                                    </p:set>
                                  </p:childTnLst>
                                </p:cTn>
                              </p:par>
                            </p:childTnLst>
                          </p:cTn>
                        </p:par>
                        <p:par>
                          <p:cTn id="22" fill="hold">
                            <p:stCondLst>
                              <p:cond delay="400"/>
                            </p:stCondLst>
                            <p:childTnLst>
                              <p:par>
                                <p:cTn id="23" presetID="1" presetClass="entr" presetSubtype="0" fill="hold" grpId="0" nodeType="afterEffect">
                                  <p:stCondLst>
                                    <p:cond delay="0"/>
                                  </p:stCondLst>
                                  <p:childTnLst>
                                    <p:set>
                                      <p:cBhvr>
                                        <p:cTn id="24" dur="1" fill="hold">
                                          <p:stCondLst>
                                            <p:cond delay="199"/>
                                          </p:stCondLst>
                                        </p:cTn>
                                        <p:tgtEl>
                                          <p:spTgt spid="40">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99"/>
                                          </p:stCondLst>
                                        </p:cTn>
                                        <p:tgtEl>
                                          <p:spTgt spid="40">
                                            <p:txEl>
                                              <p:pRg st="0" end="0"/>
                                            </p:txEl>
                                          </p:spTgt>
                                        </p:tgtEl>
                                        <p:attrNameLst>
                                          <p:attrName>style.visibility</p:attrName>
                                        </p:attrNameLst>
                                      </p:cBhvr>
                                      <p:to>
                                        <p:strVal val="visible"/>
                                      </p:to>
                                    </p:set>
                                  </p:childTnLst>
                                </p:cTn>
                              </p:par>
                            </p:childTnLst>
                          </p:cTn>
                        </p:par>
                        <p:par>
                          <p:cTn id="27" fill="hold">
                            <p:stCondLst>
                              <p:cond delay="600"/>
                            </p:stCondLst>
                            <p:childTnLst>
                              <p:par>
                                <p:cTn id="28" presetID="1" presetClass="entr" presetSubtype="0" fill="hold" grpId="0" nodeType="afterEffect">
                                  <p:stCondLst>
                                    <p:cond delay="0"/>
                                  </p:stCondLst>
                                  <p:childTnLst>
                                    <p:set>
                                      <p:cBhvr>
                                        <p:cTn id="29" dur="1" fill="hold">
                                          <p:stCondLst>
                                            <p:cond delay="199"/>
                                          </p:stCondLst>
                                        </p:cTn>
                                        <p:tgtEl>
                                          <p:spTgt spid="41">
                                            <p:bg/>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199"/>
                                          </p:stCondLst>
                                        </p:cTn>
                                        <p:tgtEl>
                                          <p:spTgt spid="41">
                                            <p:txEl>
                                              <p:pRg st="0" end="0"/>
                                            </p:txEl>
                                          </p:spTgt>
                                        </p:tgtEl>
                                        <p:attrNameLst>
                                          <p:attrName>style.visibility</p:attrName>
                                        </p:attrNameLst>
                                      </p:cBhvr>
                                      <p:to>
                                        <p:strVal val="visible"/>
                                      </p:to>
                                    </p:set>
                                  </p:childTnLst>
                                </p:cTn>
                              </p:par>
                            </p:childTnLst>
                          </p:cTn>
                        </p:par>
                        <p:par>
                          <p:cTn id="32" fill="hold">
                            <p:stCondLst>
                              <p:cond delay="800"/>
                            </p:stCondLst>
                            <p:childTnLst>
                              <p:par>
                                <p:cTn id="33" presetID="1" presetClass="entr" presetSubtype="0" fill="hold" grpId="0" nodeType="afterEffect">
                                  <p:stCondLst>
                                    <p:cond delay="0"/>
                                  </p:stCondLst>
                                  <p:childTnLst>
                                    <p:set>
                                      <p:cBhvr>
                                        <p:cTn id="34" dur="1" fill="hold">
                                          <p:stCondLst>
                                            <p:cond delay="199"/>
                                          </p:stCondLst>
                                        </p:cTn>
                                        <p:tgtEl>
                                          <p:spTgt spid="42">
                                            <p:bg/>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199"/>
                                          </p:stCondLst>
                                        </p:cTn>
                                        <p:tgtEl>
                                          <p:spTgt spid="42">
                                            <p:txEl>
                                              <p:pRg st="0" end="0"/>
                                            </p:txEl>
                                          </p:spTgt>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199"/>
                                          </p:stCondLst>
                                        </p:cTn>
                                        <p:tgtEl>
                                          <p:spTgt spid="43">
                                            <p:bg/>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199"/>
                                          </p:stCondLst>
                                        </p:cTn>
                                        <p:tgtEl>
                                          <p:spTgt spid="43">
                                            <p:txEl>
                                              <p:pRg st="0" end="0"/>
                                            </p:txEl>
                                          </p:spTgt>
                                        </p:tgtEl>
                                        <p:attrNameLst>
                                          <p:attrName>style.visibility</p:attrName>
                                        </p:attrNameLst>
                                      </p:cBhvr>
                                      <p:to>
                                        <p:strVal val="visible"/>
                                      </p:to>
                                    </p:set>
                                  </p:childTnLst>
                                </p:cTn>
                              </p:par>
                            </p:childTnLst>
                          </p:cTn>
                        </p:par>
                        <p:par>
                          <p:cTn id="42" fill="hold">
                            <p:stCondLst>
                              <p:cond delay="1200"/>
                            </p:stCondLst>
                            <p:childTnLst>
                              <p:par>
                                <p:cTn id="43" presetID="1" presetClass="entr" presetSubtype="0" fill="hold" grpId="0" nodeType="afterEffect">
                                  <p:stCondLst>
                                    <p:cond delay="0"/>
                                  </p:stCondLst>
                                  <p:childTnLst>
                                    <p:set>
                                      <p:cBhvr>
                                        <p:cTn id="44" dur="1" fill="hold">
                                          <p:stCondLst>
                                            <p:cond delay="199"/>
                                          </p:stCondLst>
                                        </p:cTn>
                                        <p:tgtEl>
                                          <p:spTgt spid="44">
                                            <p:bg/>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199"/>
                                          </p:stCondLst>
                                        </p:cTn>
                                        <p:tgtEl>
                                          <p:spTgt spid="44">
                                            <p:txEl>
                                              <p:pRg st="0" end="0"/>
                                            </p:txEl>
                                          </p:spTgt>
                                        </p:tgtEl>
                                        <p:attrNameLst>
                                          <p:attrName>style.visibility</p:attrName>
                                        </p:attrNameLst>
                                      </p:cBhvr>
                                      <p:to>
                                        <p:strVal val="visible"/>
                                      </p:to>
                                    </p:set>
                                  </p:childTnLst>
                                </p:cTn>
                              </p:par>
                            </p:childTnLst>
                          </p:cTn>
                        </p:par>
                        <p:par>
                          <p:cTn id="47" fill="hold">
                            <p:stCondLst>
                              <p:cond delay="1400"/>
                            </p:stCondLst>
                            <p:childTnLst>
                              <p:par>
                                <p:cTn id="48" presetID="1" presetClass="entr" presetSubtype="0" fill="hold" grpId="0" nodeType="afterEffect">
                                  <p:stCondLst>
                                    <p:cond delay="0"/>
                                  </p:stCondLst>
                                  <p:childTnLst>
                                    <p:set>
                                      <p:cBhvr>
                                        <p:cTn id="49" dur="1" fill="hold">
                                          <p:stCondLst>
                                            <p:cond delay="199"/>
                                          </p:stCondLst>
                                        </p:cTn>
                                        <p:tgtEl>
                                          <p:spTgt spid="45">
                                            <p:bg/>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199"/>
                                          </p:stCondLst>
                                        </p:cTn>
                                        <p:tgtEl>
                                          <p:spTgt spid="45">
                                            <p:txEl>
                                              <p:pRg st="0" end="0"/>
                                            </p:txEl>
                                          </p:spTgt>
                                        </p:tgtEl>
                                        <p:attrNameLst>
                                          <p:attrName>style.visibility</p:attrName>
                                        </p:attrNameLst>
                                      </p:cBhvr>
                                      <p:to>
                                        <p:strVal val="visible"/>
                                      </p:to>
                                    </p:set>
                                  </p:childTnLst>
                                </p:cTn>
                              </p:par>
                            </p:childTnLst>
                          </p:cTn>
                        </p:par>
                        <p:par>
                          <p:cTn id="52" fill="hold">
                            <p:stCondLst>
                              <p:cond delay="1600"/>
                            </p:stCondLst>
                            <p:childTnLst>
                              <p:par>
                                <p:cTn id="53" presetID="1" presetClass="entr" presetSubtype="0" fill="hold" grpId="0" nodeType="afterEffect">
                                  <p:stCondLst>
                                    <p:cond delay="0"/>
                                  </p:stCondLst>
                                  <p:childTnLst>
                                    <p:set>
                                      <p:cBhvr>
                                        <p:cTn id="54" dur="1" fill="hold">
                                          <p:stCondLst>
                                            <p:cond delay="199"/>
                                          </p:stCondLst>
                                        </p:cTn>
                                        <p:tgtEl>
                                          <p:spTgt spid="46">
                                            <p:bg/>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199"/>
                                          </p:stCondLst>
                                        </p:cTn>
                                        <p:tgtEl>
                                          <p:spTgt spid="46">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199"/>
                                          </p:stCondLst>
                                        </p:cTn>
                                        <p:tgtEl>
                                          <p:spTgt spid="14">
                                            <p:bg/>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199"/>
                                          </p:stCondLst>
                                        </p:cTn>
                                        <p:tgtEl>
                                          <p:spTgt spid="14">
                                            <p:txEl>
                                              <p:pRg st="0" end="0"/>
                                            </p:txEl>
                                          </p:spTgt>
                                        </p:tgtEl>
                                        <p:attrNameLst>
                                          <p:attrName>style.visibility</p:attrName>
                                        </p:attrNameLst>
                                      </p:cBhvr>
                                      <p:to>
                                        <p:strVal val="visible"/>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499"/>
                                          </p:stCondLst>
                                        </p:cTn>
                                        <p:tgtEl>
                                          <p:spTgt spid="30">
                                            <p:bg/>
                                          </p:spTgt>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499"/>
                                          </p:stCondLst>
                                        </p:cTn>
                                        <p:tgtEl>
                                          <p:spTgt spid="30">
                                            <p:txEl>
                                              <p:pRg st="0" end="0"/>
                                            </p:txEl>
                                          </p:spTgt>
                                        </p:tgtEl>
                                        <p:attrNameLst>
                                          <p:attrName>style.visibility</p:attrName>
                                        </p:attrNameLst>
                                      </p:cBhvr>
                                      <p:to>
                                        <p:strVal val="visible"/>
                                      </p:to>
                                    </p:set>
                                  </p:childTnLst>
                                </p:cTn>
                              </p:par>
                            </p:childTnLst>
                          </p:cTn>
                        </p:par>
                        <p:par>
                          <p:cTn id="68" fill="hold">
                            <p:stCondLst>
                              <p:cond delay="700"/>
                            </p:stCondLst>
                            <p:childTnLst>
                              <p:par>
                                <p:cTn id="69" presetID="1" presetClass="entr" presetSubtype="0" fill="hold" grpId="0" nodeType="afterEffect">
                                  <p:stCondLst>
                                    <p:cond delay="0"/>
                                  </p:stCondLst>
                                  <p:childTnLst>
                                    <p:set>
                                      <p:cBhvr>
                                        <p:cTn id="70" dur="1" fill="hold">
                                          <p:stCondLst>
                                            <p:cond delay="499"/>
                                          </p:stCondLst>
                                        </p:cTn>
                                        <p:tgtEl>
                                          <p:spTgt spid="31">
                                            <p:bg/>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499"/>
                                          </p:stCondLst>
                                        </p:cTn>
                                        <p:tgtEl>
                                          <p:spTgt spid="31">
                                            <p:txEl>
                                              <p:pRg st="0" end="0"/>
                                            </p:txEl>
                                          </p:spTgt>
                                        </p:tgtEl>
                                        <p:attrNameLst>
                                          <p:attrName>style.visibility</p:attrName>
                                        </p:attrNameLst>
                                      </p:cBhvr>
                                      <p:to>
                                        <p:strVal val="visible"/>
                                      </p:to>
                                    </p:set>
                                  </p:childTnLst>
                                </p:cTn>
                              </p:par>
                            </p:childTnLst>
                          </p:cTn>
                        </p:par>
                        <p:par>
                          <p:cTn id="73" fill="hold">
                            <p:stCondLst>
                              <p:cond delay="1200"/>
                            </p:stCondLst>
                            <p:childTnLst>
                              <p:par>
                                <p:cTn id="74" presetID="1" presetClass="entr" presetSubtype="0" fill="hold" grpId="0" nodeType="afterEffect">
                                  <p:stCondLst>
                                    <p:cond delay="0"/>
                                  </p:stCondLst>
                                  <p:childTnLst>
                                    <p:set>
                                      <p:cBhvr>
                                        <p:cTn id="75" dur="1" fill="hold">
                                          <p:stCondLst>
                                            <p:cond delay="499"/>
                                          </p:stCondLst>
                                        </p:cTn>
                                        <p:tgtEl>
                                          <p:spTgt spid="32">
                                            <p:bg/>
                                          </p:spTgt>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499"/>
                                          </p:stCondLst>
                                        </p:cTn>
                                        <p:tgtEl>
                                          <p:spTgt spid="32">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199"/>
                                          </p:stCondLst>
                                        </p:cTn>
                                        <p:tgtEl>
                                          <p:spTgt spid="49">
                                            <p:bg/>
                                          </p:spTgt>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199"/>
                                          </p:stCondLst>
                                        </p:cTn>
                                        <p:tgtEl>
                                          <p:spTgt spid="49">
                                            <p:txEl>
                                              <p:pRg st="0" end="0"/>
                                            </p:txEl>
                                          </p:spTgt>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199"/>
                                          </p:stCondLst>
                                        </p:cTn>
                                        <p:tgtEl>
                                          <p:spTgt spid="48">
                                            <p:bg/>
                                          </p:spTgt>
                                        </p:tgtEl>
                                        <p:attrNameLst>
                                          <p:attrName>style.visibility</p:attrName>
                                        </p:attrNameLst>
                                      </p:cBhvr>
                                      <p:to>
                                        <p:strVal val="visible"/>
                                      </p:to>
                                    </p:set>
                                  </p:childTnLst>
                                </p:cTn>
                              </p:par>
                            </p:childTnLst>
                          </p:cTn>
                        </p:par>
                        <p:par>
                          <p:cTn id="86" fill="hold">
                            <p:stCondLst>
                              <p:cond delay="200"/>
                            </p:stCondLst>
                            <p:childTnLst>
                              <p:par>
                                <p:cTn id="87" presetID="1" presetClass="entr" presetSubtype="0" fill="hold" grpId="0" nodeType="afterEffect">
                                  <p:stCondLst>
                                    <p:cond delay="0"/>
                                  </p:stCondLst>
                                  <p:childTnLst>
                                    <p:set>
                                      <p:cBhvr>
                                        <p:cTn id="88" dur="1" fill="hold">
                                          <p:stCondLst>
                                            <p:cond delay="199"/>
                                          </p:stCondLst>
                                        </p:cTn>
                                        <p:tgtEl>
                                          <p:spTgt spid="48">
                                            <p:txEl>
                                              <p:pRg st="0" end="0"/>
                                            </p:txEl>
                                          </p:spTgt>
                                        </p:tgtEl>
                                        <p:attrNameLst>
                                          <p:attrName>style.visibility</p:attrName>
                                        </p:attrNameLst>
                                      </p:cBhvr>
                                      <p:to>
                                        <p:strVal val="visible"/>
                                      </p:to>
                                    </p:set>
                                  </p:childTnLst>
                                </p:cTn>
                              </p:par>
                            </p:childTnLst>
                          </p:cTn>
                        </p:par>
                        <p:par>
                          <p:cTn id="89" fill="hold">
                            <p:stCondLst>
                              <p:cond delay="400"/>
                            </p:stCondLst>
                            <p:childTnLst>
                              <p:par>
                                <p:cTn id="90" presetID="1" presetClass="entr" presetSubtype="0" fill="hold" grpId="0" nodeType="afterEffect">
                                  <p:stCondLst>
                                    <p:cond delay="0"/>
                                  </p:stCondLst>
                                  <p:childTnLst>
                                    <p:set>
                                      <p:cBhvr>
                                        <p:cTn id="91" dur="1" fill="hold">
                                          <p:stCondLst>
                                            <p:cond delay="199"/>
                                          </p:stCondLst>
                                        </p:cTn>
                                        <p:tgtEl>
                                          <p:spTgt spid="47">
                                            <p:bg/>
                                          </p:spTgt>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199"/>
                                          </p:stCondLst>
                                        </p:cTn>
                                        <p:tgtEl>
                                          <p:spTgt spid="47">
                                            <p:txEl>
                                              <p:pRg st="0" end="0"/>
                                            </p:txEl>
                                          </p:spTgt>
                                        </p:tgtEl>
                                        <p:attrNameLst>
                                          <p:attrName>style.visibility</p:attrName>
                                        </p:attrNameLst>
                                      </p:cBhvr>
                                      <p:to>
                                        <p:strVal val="visible"/>
                                      </p:to>
                                    </p:set>
                                  </p:childTnLst>
                                </p:cTn>
                              </p:par>
                            </p:childTnLst>
                          </p:cTn>
                        </p:par>
                        <p:par>
                          <p:cTn id="94" fill="hold">
                            <p:stCondLst>
                              <p:cond delay="600"/>
                            </p:stCondLst>
                            <p:childTnLst>
                              <p:par>
                                <p:cTn id="95" presetID="1" presetClass="entr" presetSubtype="0" fill="hold" grpId="0" nodeType="afterEffect">
                                  <p:stCondLst>
                                    <p:cond delay="0"/>
                                  </p:stCondLst>
                                  <p:childTnLst>
                                    <p:set>
                                      <p:cBhvr>
                                        <p:cTn id="96" dur="1" fill="hold">
                                          <p:stCondLst>
                                            <p:cond delay="199"/>
                                          </p:stCondLst>
                                        </p:cTn>
                                        <p:tgtEl>
                                          <p:spTgt spid="5">
                                            <p:bg/>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199"/>
                                          </p:stCondLst>
                                        </p:cTn>
                                        <p:tgtEl>
                                          <p:spTgt spid="5">
                                            <p:txEl>
                                              <p:pRg st="0" end="0"/>
                                            </p:txEl>
                                          </p:spTgt>
                                        </p:tgtEl>
                                        <p:attrNameLst>
                                          <p:attrName>style.visibility</p:attrName>
                                        </p:attrNameLst>
                                      </p:cBhvr>
                                      <p:to>
                                        <p:strVal val="visible"/>
                                      </p:to>
                                    </p:set>
                                  </p:childTnLst>
                                </p:cTn>
                              </p:par>
                            </p:childTnLst>
                          </p:cTn>
                        </p:par>
                        <p:par>
                          <p:cTn id="99" fill="hold">
                            <p:stCondLst>
                              <p:cond delay="800"/>
                            </p:stCondLst>
                            <p:childTnLst>
                              <p:par>
                                <p:cTn id="100" presetID="1" presetClass="entr" presetSubtype="0" fill="hold" grpId="0" nodeType="afterEffect">
                                  <p:stCondLst>
                                    <p:cond delay="0"/>
                                  </p:stCondLst>
                                  <p:childTnLst>
                                    <p:set>
                                      <p:cBhvr>
                                        <p:cTn id="101" dur="1" fill="hold">
                                          <p:stCondLst>
                                            <p:cond delay="199"/>
                                          </p:stCondLst>
                                        </p:cTn>
                                        <p:tgtEl>
                                          <p:spTgt spid="15">
                                            <p:bg/>
                                          </p:spTgt>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199"/>
                                          </p:stCondLst>
                                        </p:cTn>
                                        <p:tgtEl>
                                          <p:spTgt spid="15">
                                            <p:txEl>
                                              <p:pRg st="0" end="0"/>
                                            </p:txEl>
                                          </p:spTgt>
                                        </p:tgtEl>
                                        <p:attrNameLst>
                                          <p:attrName>style.visibility</p:attrName>
                                        </p:attrNameLst>
                                      </p:cBhvr>
                                      <p:to>
                                        <p:strVal val="visible"/>
                                      </p:to>
                                    </p:set>
                                  </p:childTnLst>
                                </p:cTn>
                              </p:par>
                            </p:childTnLst>
                          </p:cTn>
                        </p:par>
                        <p:par>
                          <p:cTn id="104" fill="hold">
                            <p:stCondLst>
                              <p:cond delay="1000"/>
                            </p:stCondLst>
                            <p:childTnLst>
                              <p:par>
                                <p:cTn id="105" presetID="1" presetClass="entr" presetSubtype="0" fill="hold" grpId="0" nodeType="afterEffect">
                                  <p:stCondLst>
                                    <p:cond delay="0"/>
                                  </p:stCondLst>
                                  <p:childTnLst>
                                    <p:set>
                                      <p:cBhvr>
                                        <p:cTn id="106" dur="1" fill="hold">
                                          <p:stCondLst>
                                            <p:cond delay="199"/>
                                          </p:stCondLst>
                                        </p:cTn>
                                        <p:tgtEl>
                                          <p:spTgt spid="16">
                                            <p:bg/>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199"/>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4" grpId="0" uiExpand="1" build="p" animBg="1"/>
      <p:bldP spid="30" grpId="0" uiExpand="1" build="p" animBg="1"/>
      <p:bldP spid="31" grpId="0" uiExpand="1" build="p" animBg="1"/>
      <p:bldP spid="32" grpId="0" uiExpand="1" build="p" animBg="1"/>
      <p:bldP spid="6" grpId="0" animBg="1"/>
      <p:bldP spid="38" grpId="0" uiExpand="1" build="p" animBg="1"/>
      <p:bldP spid="39" grpId="0" uiExpand="1" build="p" animBg="1"/>
      <p:bldP spid="40" grpId="0" uiExpand="1" build="p" animBg="1"/>
      <p:bldP spid="41" grpId="0" uiExpand="1" build="p" animBg="1"/>
      <p:bldP spid="42" grpId="0" uiExpand="1" build="p" animBg="1"/>
      <p:bldP spid="43" grpId="0" uiExpand="1" build="p" animBg="1"/>
      <p:bldP spid="44" grpId="0" uiExpand="1" build="p" animBg="1"/>
      <p:bldP spid="45" grpId="0" uiExpand="1" build="p" animBg="1"/>
      <p:bldP spid="46" grpId="0" uiExpand="1" build="p" animBg="1"/>
      <p:bldP spid="47" grpId="0" uiExpand="1" build="p" animBg="1"/>
      <p:bldP spid="48" grpId="0" uiExpand="1" build="p" animBg="1"/>
      <p:bldP spid="49" grpId="0" uiExpand="1" build="p" animBg="1"/>
      <p:bldP spid="5" grpId="0" uiExpand="1" build="p" animBg="1"/>
      <p:bldP spid="15" grpId="0" uiExpand="1" build="p" animBg="1"/>
      <p:bldP spid="16" grpId="0" uiExpand="1" build="p" animBg="1"/>
    </p:bldLst>
  </p:timing>
</p:sld>
</file>

<file path=ppt/theme/theme1.xml><?xml version="1.0" encoding="utf-8"?>
<a:theme xmlns:a="http://schemas.openxmlformats.org/drawingml/2006/main" name="Secteur">
  <a:themeElements>
    <a:clrScheme name="Secteu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eu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eu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2369</TotalTime>
  <Words>497</Words>
  <Application>Microsoft Office PowerPoint</Application>
  <PresentationFormat>Grand écran</PresentationFormat>
  <Paragraphs>108</Paragraphs>
  <Slides>4</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vt:i4>
      </vt:variant>
    </vt:vector>
  </HeadingPairs>
  <TitlesOfParts>
    <vt:vector size="8" baseType="lpstr">
      <vt:lpstr>Aptos</vt:lpstr>
      <vt:lpstr>Century Gothic</vt:lpstr>
      <vt:lpstr>Wingdings 3</vt:lpstr>
      <vt:lpstr>Secteur</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Leibzig</dc:creator>
  <cp:lastModifiedBy>Guillaume Leibzig</cp:lastModifiedBy>
  <cp:revision>11</cp:revision>
  <dcterms:created xsi:type="dcterms:W3CDTF">2025-06-14T09:24:35Z</dcterms:created>
  <dcterms:modified xsi:type="dcterms:W3CDTF">2025-06-17T07:45:33Z</dcterms:modified>
</cp:coreProperties>
</file>